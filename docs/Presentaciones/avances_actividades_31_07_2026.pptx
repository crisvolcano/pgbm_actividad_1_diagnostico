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35_FFCB0D3D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85" r:id="rId2"/>
    <p:sldId id="286" r:id="rId3"/>
    <p:sldId id="318" r:id="rId4"/>
    <p:sldId id="314" r:id="rId5"/>
    <p:sldId id="287" r:id="rId6"/>
    <p:sldId id="288" r:id="rId7"/>
    <p:sldId id="319" r:id="rId8"/>
    <p:sldId id="328" r:id="rId9"/>
    <p:sldId id="315" r:id="rId10"/>
    <p:sldId id="290" r:id="rId11"/>
    <p:sldId id="299" r:id="rId12"/>
    <p:sldId id="302" r:id="rId13"/>
    <p:sldId id="301" r:id="rId14"/>
    <p:sldId id="303" r:id="rId15"/>
    <p:sldId id="304" r:id="rId16"/>
    <p:sldId id="305" r:id="rId17"/>
    <p:sldId id="316" r:id="rId18"/>
    <p:sldId id="308" r:id="rId19"/>
    <p:sldId id="309" r:id="rId20"/>
    <p:sldId id="307" r:id="rId21"/>
    <p:sldId id="320" r:id="rId22"/>
    <p:sldId id="322" r:id="rId23"/>
    <p:sldId id="329" r:id="rId24"/>
    <p:sldId id="323" r:id="rId25"/>
    <p:sldId id="324" r:id="rId26"/>
    <p:sldId id="325" r:id="rId27"/>
    <p:sldId id="327" r:id="rId28"/>
    <p:sldId id="326" r:id="rId29"/>
    <p:sldId id="317" r:id="rId30"/>
    <p:sldId id="312" r:id="rId31"/>
    <p:sldId id="311" r:id="rId32"/>
    <p:sldId id="321" r:id="rId33"/>
    <p:sldId id="310" r:id="rId34"/>
    <p:sldId id="313" r:id="rId3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5BC861-1AF4-905B-710C-5C30AA386DD3}" name="Jesús Céspedes Rivera" initials="JC" userId="a6b088a06617d4fb" providerId="Windows Live"/>
  <p188:author id="{95582667-6102-27E7-ED8E-01A166EB4B6B}" name="Guest User" initials="GU" userId="Guest User" providerId="Windows Live"/>
  <p188:author id="{D356109D-CF1A-BA9B-39E0-DCA505095342}" name="Cristian Aguilar-Barboza" initials="CA" userId="8c386581da7fe93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07F"/>
    <a:srgbClr val="00125C"/>
    <a:srgbClr val="FFDE5C"/>
    <a:srgbClr val="CFD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23475-D8D9-9691-2323-DCED45119916}" v="892" dt="2026-07-31T02:04:54.490"/>
    <p1510:client id="{466B8210-9EE5-D9BB-D102-2557C4118E8C}" v="19" dt="2026-07-30T17:13:17.619"/>
    <p1510:client id="{6D35A834-217E-4DFE-B1CF-D33AA47E3B5B}" v="3720" vWet="3721" dt="2026-07-31T02:04:49.915"/>
    <p1510:client id="{986F5A0D-A2DE-F68E-4636-293A9050550E}" v="2" dt="2026-07-31T04:16:56.218"/>
    <p1510:client id="{C3EA54C0-1652-59C0-C0BE-7DBE02042DE5}" v="15" dt="2026-07-31T04:14:23.9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omments/modernComment_135_FFCB0D3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2669C54-9EE2-4246-9F8B-930587040DCA}" authorId="{D356109D-CF1A-BA9B-39E0-DCA505095342}" created="2026-07-30T00:39:45.60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91497277" sldId="309"/>
      <ac:picMk id="4" creationId="{E6A9C1E0-06C8-E486-9659-52ECA88415D5}"/>
    </ac:deMkLst>
    <p188:txBody>
      <a:bodyPr/>
      <a:lstStyle/>
      <a:p>
        <a:r>
          <a:rPr lang="en-US"/>
          <a:t>¿Qué nos dice esto?</a:t>
        </a:r>
      </a:p>
    </p188:txBody>
  </p188:cm>
</p188:cmLst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E1CFFD-A1C1-4E58-B945-106ADFCFC55C}" type="doc">
      <dgm:prSet loTypeId="urn:microsoft.com/office/officeart/2005/8/layout/vProcess5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4EC74F-59A4-4F7C-9E3C-988F774234B2}">
      <dgm:prSet/>
      <dgm:spPr/>
      <dgm:t>
        <a:bodyPr/>
        <a:lstStyle/>
        <a:p>
          <a:r>
            <a:rPr lang="es-CR" b="1" i="0"/>
            <a:t>Calidad de los datos:</a:t>
          </a:r>
          <a:r>
            <a:rPr lang="es-CR" b="0" i="0"/>
            <a:t> auditoría, depuración, normalización y control de consistencia antes del modelado.</a:t>
          </a:r>
          <a:endParaRPr lang="en-US"/>
        </a:p>
      </dgm:t>
    </dgm:pt>
    <dgm:pt modelId="{C9AB8670-B959-4995-9AD3-98E2BBD98B7B}" type="parTrans" cxnId="{FDDCEDB6-AFB0-4F49-B6C0-F6AE0A1209F6}">
      <dgm:prSet/>
      <dgm:spPr/>
      <dgm:t>
        <a:bodyPr/>
        <a:lstStyle/>
        <a:p>
          <a:endParaRPr lang="en-US"/>
        </a:p>
      </dgm:t>
    </dgm:pt>
    <dgm:pt modelId="{4AFF26D1-EC1D-4205-9674-514506B97310}" type="sibTrans" cxnId="{FDDCEDB6-AFB0-4F49-B6C0-F6AE0A1209F6}">
      <dgm:prSet/>
      <dgm:spPr/>
      <dgm:t>
        <a:bodyPr/>
        <a:lstStyle/>
        <a:p>
          <a:endParaRPr lang="en-US"/>
        </a:p>
      </dgm:t>
    </dgm:pt>
    <dgm:pt modelId="{1FEC96D2-410E-4E73-8D2D-C27DB95D1183}">
      <dgm:prSet/>
      <dgm:spPr/>
      <dgm:t>
        <a:bodyPr/>
        <a:lstStyle/>
        <a:p>
          <a:r>
            <a:rPr lang="es-CR" b="1" i="0"/>
            <a:t>Trazabilidad:</a:t>
          </a:r>
          <a:r>
            <a:rPr lang="es-CR" b="0" i="0"/>
            <a:t> documentación de las fuentes, transformaciones, exclusiones y productos generados.</a:t>
          </a:r>
          <a:endParaRPr lang="en-US"/>
        </a:p>
      </dgm:t>
    </dgm:pt>
    <dgm:pt modelId="{5DEAB5F0-D5C7-4AAD-A83B-0F35E90EC9C5}" type="parTrans" cxnId="{446BB260-737D-4DC4-89EA-61B762566D92}">
      <dgm:prSet/>
      <dgm:spPr/>
      <dgm:t>
        <a:bodyPr/>
        <a:lstStyle/>
        <a:p>
          <a:endParaRPr lang="en-US"/>
        </a:p>
      </dgm:t>
    </dgm:pt>
    <dgm:pt modelId="{4C1FEF70-A36A-4DA3-9B49-FD6EEABEED52}" type="sibTrans" cxnId="{446BB260-737D-4DC4-89EA-61B762566D92}">
      <dgm:prSet/>
      <dgm:spPr/>
      <dgm:t>
        <a:bodyPr/>
        <a:lstStyle/>
        <a:p>
          <a:endParaRPr lang="en-US"/>
        </a:p>
      </dgm:t>
    </dgm:pt>
    <dgm:pt modelId="{798355A9-B2B7-4534-B106-903C7A10F740}">
      <dgm:prSet/>
      <dgm:spPr/>
      <dgm:t>
        <a:bodyPr/>
        <a:lstStyle/>
        <a:p>
          <a:r>
            <a:rPr lang="es-CR" b="1" i="0"/>
            <a:t>Reproducibilidad:</a:t>
          </a:r>
          <a:r>
            <a:rPr lang="es-CR" b="0" i="0"/>
            <a:t> procesos estructurados en código, configuraciones y salidas verificables.</a:t>
          </a:r>
          <a:endParaRPr lang="en-US"/>
        </a:p>
      </dgm:t>
    </dgm:pt>
    <dgm:pt modelId="{A2CF8CBF-3625-4218-BD46-F20E4028944D}" type="parTrans" cxnId="{EBF2EAB2-09F4-42BE-B7F4-246CD5F35BC9}">
      <dgm:prSet/>
      <dgm:spPr/>
      <dgm:t>
        <a:bodyPr/>
        <a:lstStyle/>
        <a:p>
          <a:endParaRPr lang="en-US"/>
        </a:p>
      </dgm:t>
    </dgm:pt>
    <dgm:pt modelId="{6CDC3CE6-6AF3-4DDE-BDAC-9A5954049BCF}" type="sibTrans" cxnId="{EBF2EAB2-09F4-42BE-B7F4-246CD5F35BC9}">
      <dgm:prSet/>
      <dgm:spPr/>
      <dgm:t>
        <a:bodyPr/>
        <a:lstStyle/>
        <a:p>
          <a:endParaRPr lang="en-US"/>
        </a:p>
      </dgm:t>
    </dgm:pt>
    <dgm:pt modelId="{B68EC827-9019-445E-B5D2-6C0638F63D38}">
      <dgm:prSet/>
      <dgm:spPr/>
      <dgm:t>
        <a:bodyPr/>
        <a:lstStyle/>
        <a:p>
          <a:r>
            <a:rPr lang="es-CR" b="1" i="0"/>
            <a:t>Rigor metodológico:</a:t>
          </a:r>
          <a:r>
            <a:rPr lang="es-CR" b="0" i="0"/>
            <a:t> separación espacial de los datos y uso de métricas comparables entre modelos.</a:t>
          </a:r>
          <a:endParaRPr lang="en-US"/>
        </a:p>
      </dgm:t>
    </dgm:pt>
    <dgm:pt modelId="{718D65F6-E576-4ACC-AE97-E4A66525734A}" type="parTrans" cxnId="{0BED8D31-6748-4976-B894-90DB87AB0307}">
      <dgm:prSet/>
      <dgm:spPr/>
      <dgm:t>
        <a:bodyPr/>
        <a:lstStyle/>
        <a:p>
          <a:endParaRPr lang="en-US"/>
        </a:p>
      </dgm:t>
    </dgm:pt>
    <dgm:pt modelId="{353027E5-8AD4-40C2-B604-F96C81E398D6}" type="sibTrans" cxnId="{0BED8D31-6748-4976-B894-90DB87AB0307}">
      <dgm:prSet/>
      <dgm:spPr/>
      <dgm:t>
        <a:bodyPr/>
        <a:lstStyle/>
        <a:p>
          <a:endParaRPr lang="en-US"/>
        </a:p>
      </dgm:t>
    </dgm:pt>
    <dgm:pt modelId="{CEDF5074-9050-4579-8DA3-2CBBB88E320A}">
      <dgm:prSet/>
      <dgm:spPr/>
      <dgm:t>
        <a:bodyPr/>
        <a:lstStyle/>
        <a:p>
          <a:r>
            <a:rPr lang="es-CR" b="1" i="0"/>
            <a:t>Aplicabilidad:</a:t>
          </a:r>
          <a:r>
            <a:rPr lang="es-CR" b="0" i="0"/>
            <a:t> desarrollo de procedimientos replicables para incorporar nuevos datos y ampliar el análisis regional.</a:t>
          </a:r>
          <a:endParaRPr lang="en-US"/>
        </a:p>
      </dgm:t>
    </dgm:pt>
    <dgm:pt modelId="{DA75D9AF-0BE6-4C94-AEF6-89051E9C60C0}" type="parTrans" cxnId="{E1933070-FA06-4171-AEE7-17E2D753507D}">
      <dgm:prSet/>
      <dgm:spPr/>
      <dgm:t>
        <a:bodyPr/>
        <a:lstStyle/>
        <a:p>
          <a:endParaRPr lang="en-US"/>
        </a:p>
      </dgm:t>
    </dgm:pt>
    <dgm:pt modelId="{2294798E-2316-472E-872F-10907B6771BA}" type="sibTrans" cxnId="{E1933070-FA06-4171-AEE7-17E2D753507D}">
      <dgm:prSet/>
      <dgm:spPr/>
      <dgm:t>
        <a:bodyPr/>
        <a:lstStyle/>
        <a:p>
          <a:endParaRPr lang="en-US"/>
        </a:p>
      </dgm:t>
    </dgm:pt>
    <dgm:pt modelId="{4BBC851B-E3B8-4287-B021-6EFDCD411793}" type="pres">
      <dgm:prSet presAssocID="{4CE1CFFD-A1C1-4E58-B945-106ADFCFC55C}" presName="outerComposite" presStyleCnt="0">
        <dgm:presLayoutVars>
          <dgm:chMax val="5"/>
          <dgm:dir/>
          <dgm:resizeHandles val="exact"/>
        </dgm:presLayoutVars>
      </dgm:prSet>
      <dgm:spPr/>
    </dgm:pt>
    <dgm:pt modelId="{59680798-D535-4B9C-A2D3-54D5FCC27FAE}" type="pres">
      <dgm:prSet presAssocID="{4CE1CFFD-A1C1-4E58-B945-106ADFCFC55C}" presName="dummyMaxCanvas" presStyleCnt="0">
        <dgm:presLayoutVars/>
      </dgm:prSet>
      <dgm:spPr/>
    </dgm:pt>
    <dgm:pt modelId="{E53D4E11-EC7E-4CB7-A6D6-42D8B498D2F6}" type="pres">
      <dgm:prSet presAssocID="{4CE1CFFD-A1C1-4E58-B945-106ADFCFC55C}" presName="FiveNodes_1" presStyleLbl="node1" presStyleIdx="0" presStyleCnt="5">
        <dgm:presLayoutVars>
          <dgm:bulletEnabled val="1"/>
        </dgm:presLayoutVars>
      </dgm:prSet>
      <dgm:spPr/>
    </dgm:pt>
    <dgm:pt modelId="{107366C5-C283-4320-AD34-CF08D0DC0251}" type="pres">
      <dgm:prSet presAssocID="{4CE1CFFD-A1C1-4E58-B945-106ADFCFC55C}" presName="FiveNodes_2" presStyleLbl="node1" presStyleIdx="1" presStyleCnt="5">
        <dgm:presLayoutVars>
          <dgm:bulletEnabled val="1"/>
        </dgm:presLayoutVars>
      </dgm:prSet>
      <dgm:spPr/>
    </dgm:pt>
    <dgm:pt modelId="{2730FE43-D032-4C7A-A304-B81F38E432FD}" type="pres">
      <dgm:prSet presAssocID="{4CE1CFFD-A1C1-4E58-B945-106ADFCFC55C}" presName="FiveNodes_3" presStyleLbl="node1" presStyleIdx="2" presStyleCnt="5">
        <dgm:presLayoutVars>
          <dgm:bulletEnabled val="1"/>
        </dgm:presLayoutVars>
      </dgm:prSet>
      <dgm:spPr/>
    </dgm:pt>
    <dgm:pt modelId="{6900EA76-36EC-441A-8954-26DB28DCAAB4}" type="pres">
      <dgm:prSet presAssocID="{4CE1CFFD-A1C1-4E58-B945-106ADFCFC55C}" presName="FiveNodes_4" presStyleLbl="node1" presStyleIdx="3" presStyleCnt="5">
        <dgm:presLayoutVars>
          <dgm:bulletEnabled val="1"/>
        </dgm:presLayoutVars>
      </dgm:prSet>
      <dgm:spPr/>
    </dgm:pt>
    <dgm:pt modelId="{7A0F5CFE-BB9D-4110-A7E8-8709D21AEA56}" type="pres">
      <dgm:prSet presAssocID="{4CE1CFFD-A1C1-4E58-B945-106ADFCFC55C}" presName="FiveNodes_5" presStyleLbl="node1" presStyleIdx="4" presStyleCnt="5">
        <dgm:presLayoutVars>
          <dgm:bulletEnabled val="1"/>
        </dgm:presLayoutVars>
      </dgm:prSet>
      <dgm:spPr/>
    </dgm:pt>
    <dgm:pt modelId="{8572B43C-CB60-4560-BF68-7856A67FB17A}" type="pres">
      <dgm:prSet presAssocID="{4CE1CFFD-A1C1-4E58-B945-106ADFCFC55C}" presName="FiveConn_1-2" presStyleLbl="fgAccFollowNode1" presStyleIdx="0" presStyleCnt="4">
        <dgm:presLayoutVars>
          <dgm:bulletEnabled val="1"/>
        </dgm:presLayoutVars>
      </dgm:prSet>
      <dgm:spPr/>
    </dgm:pt>
    <dgm:pt modelId="{F61C4A37-5226-4148-BFE6-F0468DB43292}" type="pres">
      <dgm:prSet presAssocID="{4CE1CFFD-A1C1-4E58-B945-106ADFCFC55C}" presName="FiveConn_2-3" presStyleLbl="fgAccFollowNode1" presStyleIdx="1" presStyleCnt="4">
        <dgm:presLayoutVars>
          <dgm:bulletEnabled val="1"/>
        </dgm:presLayoutVars>
      </dgm:prSet>
      <dgm:spPr/>
    </dgm:pt>
    <dgm:pt modelId="{10561886-A199-4220-A6B4-D2A48CC9986D}" type="pres">
      <dgm:prSet presAssocID="{4CE1CFFD-A1C1-4E58-B945-106ADFCFC55C}" presName="FiveConn_3-4" presStyleLbl="fgAccFollowNode1" presStyleIdx="2" presStyleCnt="4">
        <dgm:presLayoutVars>
          <dgm:bulletEnabled val="1"/>
        </dgm:presLayoutVars>
      </dgm:prSet>
      <dgm:spPr/>
    </dgm:pt>
    <dgm:pt modelId="{0A676BF8-5613-45EA-B03C-37B3B34B8FFB}" type="pres">
      <dgm:prSet presAssocID="{4CE1CFFD-A1C1-4E58-B945-106ADFCFC55C}" presName="FiveConn_4-5" presStyleLbl="fgAccFollowNode1" presStyleIdx="3" presStyleCnt="4">
        <dgm:presLayoutVars>
          <dgm:bulletEnabled val="1"/>
        </dgm:presLayoutVars>
      </dgm:prSet>
      <dgm:spPr/>
    </dgm:pt>
    <dgm:pt modelId="{C04A7526-87E7-4BFE-8D71-599640B69AE5}" type="pres">
      <dgm:prSet presAssocID="{4CE1CFFD-A1C1-4E58-B945-106ADFCFC55C}" presName="FiveNodes_1_text" presStyleLbl="node1" presStyleIdx="4" presStyleCnt="5">
        <dgm:presLayoutVars>
          <dgm:bulletEnabled val="1"/>
        </dgm:presLayoutVars>
      </dgm:prSet>
      <dgm:spPr/>
    </dgm:pt>
    <dgm:pt modelId="{13153071-65C8-4B87-8679-531EBF825709}" type="pres">
      <dgm:prSet presAssocID="{4CE1CFFD-A1C1-4E58-B945-106ADFCFC55C}" presName="FiveNodes_2_text" presStyleLbl="node1" presStyleIdx="4" presStyleCnt="5">
        <dgm:presLayoutVars>
          <dgm:bulletEnabled val="1"/>
        </dgm:presLayoutVars>
      </dgm:prSet>
      <dgm:spPr/>
    </dgm:pt>
    <dgm:pt modelId="{A1A37562-64B4-4996-B0F1-7245C9A36637}" type="pres">
      <dgm:prSet presAssocID="{4CE1CFFD-A1C1-4E58-B945-106ADFCFC55C}" presName="FiveNodes_3_text" presStyleLbl="node1" presStyleIdx="4" presStyleCnt="5">
        <dgm:presLayoutVars>
          <dgm:bulletEnabled val="1"/>
        </dgm:presLayoutVars>
      </dgm:prSet>
      <dgm:spPr/>
    </dgm:pt>
    <dgm:pt modelId="{A4B40308-9720-4926-9C7F-63B9240D391E}" type="pres">
      <dgm:prSet presAssocID="{4CE1CFFD-A1C1-4E58-B945-106ADFCFC55C}" presName="FiveNodes_4_text" presStyleLbl="node1" presStyleIdx="4" presStyleCnt="5">
        <dgm:presLayoutVars>
          <dgm:bulletEnabled val="1"/>
        </dgm:presLayoutVars>
      </dgm:prSet>
      <dgm:spPr/>
    </dgm:pt>
    <dgm:pt modelId="{439D2C34-D52B-4246-B9F1-E1D1F187495D}" type="pres">
      <dgm:prSet presAssocID="{4CE1CFFD-A1C1-4E58-B945-106ADFCFC55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80C92C2D-25AD-41DF-81C9-01E60D7C54FB}" type="presOf" srcId="{B68EC827-9019-445E-B5D2-6C0638F63D38}" destId="{6900EA76-36EC-441A-8954-26DB28DCAAB4}" srcOrd="0" destOrd="0" presId="urn:microsoft.com/office/officeart/2005/8/layout/vProcess5"/>
    <dgm:cxn modelId="{0BED8D31-6748-4976-B894-90DB87AB0307}" srcId="{4CE1CFFD-A1C1-4E58-B945-106ADFCFC55C}" destId="{B68EC827-9019-445E-B5D2-6C0638F63D38}" srcOrd="3" destOrd="0" parTransId="{718D65F6-E576-4ACC-AE97-E4A66525734A}" sibTransId="{353027E5-8AD4-40C2-B604-F96C81E398D6}"/>
    <dgm:cxn modelId="{3700D638-AFDC-4F8C-B689-B8958FBBCD85}" type="presOf" srcId="{CEDF5074-9050-4579-8DA3-2CBBB88E320A}" destId="{7A0F5CFE-BB9D-4110-A7E8-8709D21AEA56}" srcOrd="0" destOrd="0" presId="urn:microsoft.com/office/officeart/2005/8/layout/vProcess5"/>
    <dgm:cxn modelId="{B6B2EC3D-7C5C-4304-8787-1025351C1237}" type="presOf" srcId="{6CDC3CE6-6AF3-4DDE-BDAC-9A5954049BCF}" destId="{10561886-A199-4220-A6B4-D2A48CC9986D}" srcOrd="0" destOrd="0" presId="urn:microsoft.com/office/officeart/2005/8/layout/vProcess5"/>
    <dgm:cxn modelId="{AF159C5C-4F00-4329-B6F6-6C79E2B060FF}" type="presOf" srcId="{4C1FEF70-A36A-4DA3-9B49-FD6EEABEED52}" destId="{F61C4A37-5226-4148-BFE6-F0468DB43292}" srcOrd="0" destOrd="0" presId="urn:microsoft.com/office/officeart/2005/8/layout/vProcess5"/>
    <dgm:cxn modelId="{253C9F5D-4661-49BD-9BC5-4675502EFDB0}" type="presOf" srcId="{CF4EC74F-59A4-4F7C-9E3C-988F774234B2}" destId="{C04A7526-87E7-4BFE-8D71-599640B69AE5}" srcOrd="1" destOrd="0" presId="urn:microsoft.com/office/officeart/2005/8/layout/vProcess5"/>
    <dgm:cxn modelId="{446BB260-737D-4DC4-89EA-61B762566D92}" srcId="{4CE1CFFD-A1C1-4E58-B945-106ADFCFC55C}" destId="{1FEC96D2-410E-4E73-8D2D-C27DB95D1183}" srcOrd="1" destOrd="0" parTransId="{5DEAB5F0-D5C7-4AAD-A83B-0F35E90EC9C5}" sibTransId="{4C1FEF70-A36A-4DA3-9B49-FD6EEABEED52}"/>
    <dgm:cxn modelId="{EE084362-84DE-4AB2-A34C-7107AB9EA0A9}" type="presOf" srcId="{798355A9-B2B7-4534-B106-903C7A10F740}" destId="{2730FE43-D032-4C7A-A304-B81F38E432FD}" srcOrd="0" destOrd="0" presId="urn:microsoft.com/office/officeart/2005/8/layout/vProcess5"/>
    <dgm:cxn modelId="{D0844D4D-1EEE-4BD7-A10E-AE22284F87E9}" type="presOf" srcId="{4AFF26D1-EC1D-4205-9674-514506B97310}" destId="{8572B43C-CB60-4560-BF68-7856A67FB17A}" srcOrd="0" destOrd="0" presId="urn:microsoft.com/office/officeart/2005/8/layout/vProcess5"/>
    <dgm:cxn modelId="{159CF64D-D36B-40C1-8306-D4C62EBB72DE}" type="presOf" srcId="{B68EC827-9019-445E-B5D2-6C0638F63D38}" destId="{A4B40308-9720-4926-9C7F-63B9240D391E}" srcOrd="1" destOrd="0" presId="urn:microsoft.com/office/officeart/2005/8/layout/vProcess5"/>
    <dgm:cxn modelId="{E1933070-FA06-4171-AEE7-17E2D753507D}" srcId="{4CE1CFFD-A1C1-4E58-B945-106ADFCFC55C}" destId="{CEDF5074-9050-4579-8DA3-2CBBB88E320A}" srcOrd="4" destOrd="0" parTransId="{DA75D9AF-0BE6-4C94-AEF6-89051E9C60C0}" sibTransId="{2294798E-2316-472E-872F-10907B6771BA}"/>
    <dgm:cxn modelId="{1F8EFC8C-8760-4D6D-8A8F-93110BBEBF45}" type="presOf" srcId="{1FEC96D2-410E-4E73-8D2D-C27DB95D1183}" destId="{13153071-65C8-4B87-8679-531EBF825709}" srcOrd="1" destOrd="0" presId="urn:microsoft.com/office/officeart/2005/8/layout/vProcess5"/>
    <dgm:cxn modelId="{D867919D-8E19-4BAA-AD75-73EC40B39C57}" type="presOf" srcId="{798355A9-B2B7-4534-B106-903C7A10F740}" destId="{A1A37562-64B4-4996-B0F1-7245C9A36637}" srcOrd="1" destOrd="0" presId="urn:microsoft.com/office/officeart/2005/8/layout/vProcess5"/>
    <dgm:cxn modelId="{E98C2CA1-3F7F-4B14-A185-2C59D76D6EC7}" type="presOf" srcId="{1FEC96D2-410E-4E73-8D2D-C27DB95D1183}" destId="{107366C5-C283-4320-AD34-CF08D0DC0251}" srcOrd="0" destOrd="0" presId="urn:microsoft.com/office/officeart/2005/8/layout/vProcess5"/>
    <dgm:cxn modelId="{B1C481A5-8610-4DD6-8D8B-750C6E0AA126}" type="presOf" srcId="{CF4EC74F-59A4-4F7C-9E3C-988F774234B2}" destId="{E53D4E11-EC7E-4CB7-A6D6-42D8B498D2F6}" srcOrd="0" destOrd="0" presId="urn:microsoft.com/office/officeart/2005/8/layout/vProcess5"/>
    <dgm:cxn modelId="{D34F1EA9-76BA-4887-AC0F-9BB18FB2E862}" type="presOf" srcId="{353027E5-8AD4-40C2-B604-F96C81E398D6}" destId="{0A676BF8-5613-45EA-B03C-37B3B34B8FFB}" srcOrd="0" destOrd="0" presId="urn:microsoft.com/office/officeart/2005/8/layout/vProcess5"/>
    <dgm:cxn modelId="{EBF2EAB2-09F4-42BE-B7F4-246CD5F35BC9}" srcId="{4CE1CFFD-A1C1-4E58-B945-106ADFCFC55C}" destId="{798355A9-B2B7-4534-B106-903C7A10F740}" srcOrd="2" destOrd="0" parTransId="{A2CF8CBF-3625-4218-BD46-F20E4028944D}" sibTransId="{6CDC3CE6-6AF3-4DDE-BDAC-9A5954049BCF}"/>
    <dgm:cxn modelId="{FDDCEDB6-AFB0-4F49-B6C0-F6AE0A1209F6}" srcId="{4CE1CFFD-A1C1-4E58-B945-106ADFCFC55C}" destId="{CF4EC74F-59A4-4F7C-9E3C-988F774234B2}" srcOrd="0" destOrd="0" parTransId="{C9AB8670-B959-4995-9AD3-98E2BBD98B7B}" sibTransId="{4AFF26D1-EC1D-4205-9674-514506B97310}"/>
    <dgm:cxn modelId="{4D0292CE-70A4-4FC9-BEE8-7E3FF0C3B137}" type="presOf" srcId="{4CE1CFFD-A1C1-4E58-B945-106ADFCFC55C}" destId="{4BBC851B-E3B8-4287-B021-6EFDCD411793}" srcOrd="0" destOrd="0" presId="urn:microsoft.com/office/officeart/2005/8/layout/vProcess5"/>
    <dgm:cxn modelId="{35505DE8-DCD6-4ECE-811C-C1C83B1E54A1}" type="presOf" srcId="{CEDF5074-9050-4579-8DA3-2CBBB88E320A}" destId="{439D2C34-D52B-4246-B9F1-E1D1F187495D}" srcOrd="1" destOrd="0" presId="urn:microsoft.com/office/officeart/2005/8/layout/vProcess5"/>
    <dgm:cxn modelId="{5DC2AD83-24DF-4500-AD76-0A6ECB932540}" type="presParOf" srcId="{4BBC851B-E3B8-4287-B021-6EFDCD411793}" destId="{59680798-D535-4B9C-A2D3-54D5FCC27FAE}" srcOrd="0" destOrd="0" presId="urn:microsoft.com/office/officeart/2005/8/layout/vProcess5"/>
    <dgm:cxn modelId="{798847AD-A7EE-47B5-BCC5-9573AF8AED05}" type="presParOf" srcId="{4BBC851B-E3B8-4287-B021-6EFDCD411793}" destId="{E53D4E11-EC7E-4CB7-A6D6-42D8B498D2F6}" srcOrd="1" destOrd="0" presId="urn:microsoft.com/office/officeart/2005/8/layout/vProcess5"/>
    <dgm:cxn modelId="{9F4EB068-1B3F-4591-B022-E255D6E5EB3D}" type="presParOf" srcId="{4BBC851B-E3B8-4287-B021-6EFDCD411793}" destId="{107366C5-C283-4320-AD34-CF08D0DC0251}" srcOrd="2" destOrd="0" presId="urn:microsoft.com/office/officeart/2005/8/layout/vProcess5"/>
    <dgm:cxn modelId="{A1CF0E48-F717-4330-A187-3875667C188C}" type="presParOf" srcId="{4BBC851B-E3B8-4287-B021-6EFDCD411793}" destId="{2730FE43-D032-4C7A-A304-B81F38E432FD}" srcOrd="3" destOrd="0" presId="urn:microsoft.com/office/officeart/2005/8/layout/vProcess5"/>
    <dgm:cxn modelId="{8E6C6834-8B8D-4294-84F9-74379043D3D6}" type="presParOf" srcId="{4BBC851B-E3B8-4287-B021-6EFDCD411793}" destId="{6900EA76-36EC-441A-8954-26DB28DCAAB4}" srcOrd="4" destOrd="0" presId="urn:microsoft.com/office/officeart/2005/8/layout/vProcess5"/>
    <dgm:cxn modelId="{71961AC0-016D-43C1-9223-BD27E6E89E6F}" type="presParOf" srcId="{4BBC851B-E3B8-4287-B021-6EFDCD411793}" destId="{7A0F5CFE-BB9D-4110-A7E8-8709D21AEA56}" srcOrd="5" destOrd="0" presId="urn:microsoft.com/office/officeart/2005/8/layout/vProcess5"/>
    <dgm:cxn modelId="{B1C782CC-F7A8-4C6B-BFA7-1DAC9FC8DCA2}" type="presParOf" srcId="{4BBC851B-E3B8-4287-B021-6EFDCD411793}" destId="{8572B43C-CB60-4560-BF68-7856A67FB17A}" srcOrd="6" destOrd="0" presId="urn:microsoft.com/office/officeart/2005/8/layout/vProcess5"/>
    <dgm:cxn modelId="{6CA4E262-57FE-45A5-9987-EEEDA1507B50}" type="presParOf" srcId="{4BBC851B-E3B8-4287-B021-6EFDCD411793}" destId="{F61C4A37-5226-4148-BFE6-F0468DB43292}" srcOrd="7" destOrd="0" presId="urn:microsoft.com/office/officeart/2005/8/layout/vProcess5"/>
    <dgm:cxn modelId="{4E0512DC-0338-4AA7-89C2-1E00C5C16328}" type="presParOf" srcId="{4BBC851B-E3B8-4287-B021-6EFDCD411793}" destId="{10561886-A199-4220-A6B4-D2A48CC9986D}" srcOrd="8" destOrd="0" presId="urn:microsoft.com/office/officeart/2005/8/layout/vProcess5"/>
    <dgm:cxn modelId="{56CE75E3-C62B-4FF6-AB59-4344B3420ABA}" type="presParOf" srcId="{4BBC851B-E3B8-4287-B021-6EFDCD411793}" destId="{0A676BF8-5613-45EA-B03C-37B3B34B8FFB}" srcOrd="9" destOrd="0" presId="urn:microsoft.com/office/officeart/2005/8/layout/vProcess5"/>
    <dgm:cxn modelId="{BAA64465-FB5E-4730-B826-D36D188A767E}" type="presParOf" srcId="{4BBC851B-E3B8-4287-B021-6EFDCD411793}" destId="{C04A7526-87E7-4BFE-8D71-599640B69AE5}" srcOrd="10" destOrd="0" presId="urn:microsoft.com/office/officeart/2005/8/layout/vProcess5"/>
    <dgm:cxn modelId="{8AB3AB18-F4F5-413B-8454-9255EC8CD2A2}" type="presParOf" srcId="{4BBC851B-E3B8-4287-B021-6EFDCD411793}" destId="{13153071-65C8-4B87-8679-531EBF825709}" srcOrd="11" destOrd="0" presId="urn:microsoft.com/office/officeart/2005/8/layout/vProcess5"/>
    <dgm:cxn modelId="{3F1CB320-FC69-4E9A-820F-0E4AE49E2779}" type="presParOf" srcId="{4BBC851B-E3B8-4287-B021-6EFDCD411793}" destId="{A1A37562-64B4-4996-B0F1-7245C9A36637}" srcOrd="12" destOrd="0" presId="urn:microsoft.com/office/officeart/2005/8/layout/vProcess5"/>
    <dgm:cxn modelId="{1FA32536-7906-4FA4-A173-AD6D25AA8A0F}" type="presParOf" srcId="{4BBC851B-E3B8-4287-B021-6EFDCD411793}" destId="{A4B40308-9720-4926-9C7F-63B9240D391E}" srcOrd="13" destOrd="0" presId="urn:microsoft.com/office/officeart/2005/8/layout/vProcess5"/>
    <dgm:cxn modelId="{DBD74755-737D-4DBA-B0EC-F5D7249AE994}" type="presParOf" srcId="{4BBC851B-E3B8-4287-B021-6EFDCD411793}" destId="{439D2C34-D52B-4246-B9F1-E1D1F187495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A15188-8975-48EC-8A16-31CED3A2052E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CE23AF-1B28-453D-9199-F08F5413A62C}">
      <dgm:prSet custT="1"/>
      <dgm:spPr/>
      <dgm:t>
        <a:bodyPr/>
        <a:lstStyle/>
        <a:p>
          <a:r>
            <a:rPr lang="es-419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 finalidad es obtener una base depurada, documentada y apta para procesos posteriores</a:t>
          </a:r>
          <a:endParaRPr lang="en-US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3222EC2-F6DA-4D3C-803D-7477ACE1303D}" type="sibTrans" cxnId="{AE18C1D8-B972-40F2-80D1-ECD9FFE110B9}">
      <dgm:prSet/>
      <dgm:spPr/>
      <dgm:t>
        <a:bodyPr/>
        <a:lstStyle/>
        <a:p>
          <a:endParaRPr lang="en-US"/>
        </a:p>
      </dgm:t>
    </dgm:pt>
    <dgm:pt modelId="{55780FD5-842E-4F51-8565-3A62E53DBCCC}" type="parTrans" cxnId="{AE18C1D8-B972-40F2-80D1-ECD9FFE110B9}">
      <dgm:prSet/>
      <dgm:spPr/>
      <dgm:t>
        <a:bodyPr/>
        <a:lstStyle/>
        <a:p>
          <a:endParaRPr lang="en-US"/>
        </a:p>
      </dgm:t>
    </dgm:pt>
    <dgm:pt modelId="{FA73C84A-4F8C-499C-A4D6-A2D71E3C1782}">
      <dgm:prSet custT="1"/>
      <dgm:spPr/>
      <dgm:t>
        <a:bodyPr/>
        <a:lstStyle/>
        <a:p>
          <a:r>
            <a:rPr lang="es-419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 </a:t>
          </a:r>
          <a:r>
            <a:rPr lang="es-419" sz="20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entiede</a:t>
          </a:r>
          <a:r>
            <a:rPr lang="es-419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como una evaluación sistemática de la calidad, consistencia y trazabilidad de la base de datos antes de ser usada en el proceso de modelado</a:t>
          </a:r>
          <a:endParaRPr lang="en-US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D62443C-5FC7-4618-AD49-7ABB143C69EA}" type="sibTrans" cxnId="{86AF30A5-1A23-4865-B34D-A2B9BA7C7804}">
      <dgm:prSet/>
      <dgm:spPr/>
      <dgm:t>
        <a:bodyPr/>
        <a:lstStyle/>
        <a:p>
          <a:endParaRPr lang="en-US"/>
        </a:p>
      </dgm:t>
    </dgm:pt>
    <dgm:pt modelId="{94273309-066E-442B-8BC6-4F8B575947CE}" type="parTrans" cxnId="{86AF30A5-1A23-4865-B34D-A2B9BA7C7804}">
      <dgm:prSet/>
      <dgm:spPr/>
      <dgm:t>
        <a:bodyPr/>
        <a:lstStyle/>
        <a:p>
          <a:endParaRPr lang="en-US"/>
        </a:p>
      </dgm:t>
    </dgm:pt>
    <dgm:pt modelId="{766ADB72-04C3-48EF-8B1E-34966F9FDD82}" type="pres">
      <dgm:prSet presAssocID="{0BA15188-8975-48EC-8A16-31CED3A2052E}" presName="diagram" presStyleCnt="0">
        <dgm:presLayoutVars>
          <dgm:dir/>
          <dgm:resizeHandles val="exact"/>
        </dgm:presLayoutVars>
      </dgm:prSet>
      <dgm:spPr/>
    </dgm:pt>
    <dgm:pt modelId="{7B94A033-8B39-4B06-BF6A-F08C145F223A}" type="pres">
      <dgm:prSet presAssocID="{FA73C84A-4F8C-499C-A4D6-A2D71E3C1782}" presName="node" presStyleLbl="node1" presStyleIdx="0" presStyleCnt="2" custLinFactNeighborX="5000" custLinFactNeighborY="740">
        <dgm:presLayoutVars>
          <dgm:bulletEnabled val="1"/>
        </dgm:presLayoutVars>
      </dgm:prSet>
      <dgm:spPr/>
    </dgm:pt>
    <dgm:pt modelId="{86A9AC9D-8F12-4160-9158-64D4A28310C8}" type="pres">
      <dgm:prSet presAssocID="{0D62443C-5FC7-4618-AD49-7ABB143C69EA}" presName="sibTrans" presStyleCnt="0"/>
      <dgm:spPr/>
    </dgm:pt>
    <dgm:pt modelId="{19342363-A4D2-4725-903E-85F551622FBC}" type="pres">
      <dgm:prSet presAssocID="{ECCE23AF-1B28-453D-9199-F08F5413A62C}" presName="node" presStyleLbl="node1" presStyleIdx="1" presStyleCnt="2">
        <dgm:presLayoutVars>
          <dgm:bulletEnabled val="1"/>
        </dgm:presLayoutVars>
      </dgm:prSet>
      <dgm:spPr/>
    </dgm:pt>
  </dgm:ptLst>
  <dgm:cxnLst>
    <dgm:cxn modelId="{CD6FB238-D831-4325-82DB-D2DEC13E4C5C}" type="presOf" srcId="{FA73C84A-4F8C-499C-A4D6-A2D71E3C1782}" destId="{7B94A033-8B39-4B06-BF6A-F08C145F223A}" srcOrd="0" destOrd="0" presId="urn:microsoft.com/office/officeart/2005/8/layout/default"/>
    <dgm:cxn modelId="{9AE06491-CEEC-45D6-AF06-40C26D8C0AFB}" type="presOf" srcId="{0BA15188-8975-48EC-8A16-31CED3A2052E}" destId="{766ADB72-04C3-48EF-8B1E-34966F9FDD82}" srcOrd="0" destOrd="0" presId="urn:microsoft.com/office/officeart/2005/8/layout/default"/>
    <dgm:cxn modelId="{86AF30A5-1A23-4865-B34D-A2B9BA7C7804}" srcId="{0BA15188-8975-48EC-8A16-31CED3A2052E}" destId="{FA73C84A-4F8C-499C-A4D6-A2D71E3C1782}" srcOrd="0" destOrd="0" parTransId="{94273309-066E-442B-8BC6-4F8B575947CE}" sibTransId="{0D62443C-5FC7-4618-AD49-7ABB143C69EA}"/>
    <dgm:cxn modelId="{3E499BD0-A426-4EB5-A8FC-D17E3ABAD890}" type="presOf" srcId="{ECCE23AF-1B28-453D-9199-F08F5413A62C}" destId="{19342363-A4D2-4725-903E-85F551622FBC}" srcOrd="0" destOrd="0" presId="urn:microsoft.com/office/officeart/2005/8/layout/default"/>
    <dgm:cxn modelId="{AE18C1D8-B972-40F2-80D1-ECD9FFE110B9}" srcId="{0BA15188-8975-48EC-8A16-31CED3A2052E}" destId="{ECCE23AF-1B28-453D-9199-F08F5413A62C}" srcOrd="1" destOrd="0" parTransId="{55780FD5-842E-4F51-8565-3A62E53DBCCC}" sibTransId="{23222EC2-F6DA-4D3C-803D-7477ACE1303D}"/>
    <dgm:cxn modelId="{05FC209C-3C26-4970-8315-9511B840C023}" type="presParOf" srcId="{766ADB72-04C3-48EF-8B1E-34966F9FDD82}" destId="{7B94A033-8B39-4B06-BF6A-F08C145F223A}" srcOrd="0" destOrd="0" presId="urn:microsoft.com/office/officeart/2005/8/layout/default"/>
    <dgm:cxn modelId="{12B5072E-CE2A-43FD-9AC3-92945101552F}" type="presParOf" srcId="{766ADB72-04C3-48EF-8B1E-34966F9FDD82}" destId="{86A9AC9D-8F12-4160-9158-64D4A28310C8}" srcOrd="1" destOrd="0" presId="urn:microsoft.com/office/officeart/2005/8/layout/default"/>
    <dgm:cxn modelId="{568FAB3A-9FA4-41B4-934F-BF421F0E7D64}" type="presParOf" srcId="{766ADB72-04C3-48EF-8B1E-34966F9FDD82}" destId="{19342363-A4D2-4725-903E-85F551622FBC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684F5C-29B1-4F8F-AFEF-2066EE05DEC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B1D6CA12-2BF1-47EB-9E95-B36B40062B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La base de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datos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proviene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de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una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consultoría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previa.</a:t>
          </a:r>
        </a:p>
      </dgm:t>
    </dgm:pt>
    <dgm:pt modelId="{DFA823E6-90AD-47C2-98B0-3C2EF5242331}" type="parTrans" cxnId="{BE961587-9CC9-4E4C-AD0B-F9839C485862}">
      <dgm:prSet/>
      <dgm:spPr/>
      <dgm:t>
        <a:bodyPr/>
        <a:lstStyle/>
        <a:p>
          <a:endParaRPr lang="en-US"/>
        </a:p>
      </dgm:t>
    </dgm:pt>
    <dgm:pt modelId="{851E921E-5404-404D-BDB1-A8BE856734A7}" type="sibTrans" cxnId="{BE961587-9CC9-4E4C-AD0B-F9839C485862}">
      <dgm:prSet/>
      <dgm:spPr/>
      <dgm:t>
        <a:bodyPr/>
        <a:lstStyle/>
        <a:p>
          <a:endParaRPr lang="en-US"/>
        </a:p>
      </dgm:t>
    </dgm:pt>
    <dgm:pt modelId="{E57E9F10-A503-46CA-BA21-935ADB0E41DE}">
      <dgm:prSet/>
      <dgm:spPr>
        <a:solidFill>
          <a:schemeClr val="accent1"/>
        </a:solidFill>
      </dgm:spPr>
      <dgm:t>
        <a:bodyPr/>
        <a:lstStyle/>
        <a:p>
          <a:pPr>
            <a:lnSpc>
              <a:spcPct val="100000"/>
            </a:lnSpc>
          </a:pPr>
          <a:r>
            <a:rPr lang="es-419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Fue enfoque en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recompilar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las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fuentes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originales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el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trabajo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actual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debe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concentrarse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auditar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normalizar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hacer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trazable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la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información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existente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</a:p>
      </dgm:t>
    </dgm:pt>
    <dgm:pt modelId="{77BCC120-5839-4CF3-A016-3FAC309388B7}" type="parTrans" cxnId="{666092B0-17A5-47FF-B8D4-7D75C6444663}">
      <dgm:prSet/>
      <dgm:spPr/>
      <dgm:t>
        <a:bodyPr/>
        <a:lstStyle/>
        <a:p>
          <a:endParaRPr lang="en-US"/>
        </a:p>
      </dgm:t>
    </dgm:pt>
    <dgm:pt modelId="{038E8540-BA2E-403D-9D85-576E8CB4181C}" type="sibTrans" cxnId="{666092B0-17A5-47FF-B8D4-7D75C6444663}">
      <dgm:prSet/>
      <dgm:spPr/>
      <dgm:t>
        <a:bodyPr/>
        <a:lstStyle/>
        <a:p>
          <a:endParaRPr lang="en-US"/>
        </a:p>
      </dgm:t>
    </dgm:pt>
    <dgm:pt modelId="{4DB50832-51C1-48A9-B8D6-9C339322F1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El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flujo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propuesto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ordena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la base,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identifica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conflictos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prepara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una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llave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de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clasificación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operativa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para el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mapeo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forestal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</a:p>
      </dgm:t>
    </dgm:pt>
    <dgm:pt modelId="{575A92A1-F45B-433C-9FB6-D6BAE309CB04}" type="parTrans" cxnId="{EF025A5D-39CF-4F2F-B080-F745CD2B18E7}">
      <dgm:prSet/>
      <dgm:spPr/>
      <dgm:t>
        <a:bodyPr/>
        <a:lstStyle/>
        <a:p>
          <a:endParaRPr lang="en-US"/>
        </a:p>
      </dgm:t>
    </dgm:pt>
    <dgm:pt modelId="{BEF6ADCC-A9BF-4815-87BD-F03388C807AE}" type="sibTrans" cxnId="{EF025A5D-39CF-4F2F-B080-F745CD2B18E7}">
      <dgm:prSet/>
      <dgm:spPr/>
      <dgm:t>
        <a:bodyPr/>
        <a:lstStyle/>
        <a:p>
          <a:endParaRPr lang="en-US"/>
        </a:p>
      </dgm:t>
    </dgm:pt>
    <dgm:pt modelId="{01728F60-22A7-43C8-B374-BCA9F131A1E7}" type="pres">
      <dgm:prSet presAssocID="{75684F5C-29B1-4F8F-AFEF-2066EE05DEC4}" presName="root" presStyleCnt="0">
        <dgm:presLayoutVars>
          <dgm:dir/>
          <dgm:resizeHandles val="exact"/>
        </dgm:presLayoutVars>
      </dgm:prSet>
      <dgm:spPr/>
    </dgm:pt>
    <dgm:pt modelId="{561E86B0-6C2B-4666-BE4C-06E0A88549D0}" type="pres">
      <dgm:prSet presAssocID="{B1D6CA12-2BF1-47EB-9E95-B36B40062BAB}" presName="compNode" presStyleCnt="0"/>
      <dgm:spPr/>
    </dgm:pt>
    <dgm:pt modelId="{AFA9E259-9A55-4CFC-B9C6-45CFFD62DA6D}" type="pres">
      <dgm:prSet presAssocID="{B1D6CA12-2BF1-47EB-9E95-B36B40062BAB}" presName="bgRect" presStyleLbl="bgShp" presStyleIdx="0" presStyleCnt="3" custLinFactNeighborX="1459" custLinFactNeighborY="-43"/>
      <dgm:spPr>
        <a:solidFill>
          <a:schemeClr val="accent1"/>
        </a:solidFill>
      </dgm:spPr>
    </dgm:pt>
    <dgm:pt modelId="{F01C81CB-90C2-47C6-94CD-1F7DEDB03AA6}" type="pres">
      <dgm:prSet presAssocID="{B1D6CA12-2BF1-47EB-9E95-B36B40062BA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3263785-D1C9-47D0-9CD6-8E62D65A1F7B}" type="pres">
      <dgm:prSet presAssocID="{B1D6CA12-2BF1-47EB-9E95-B36B40062BAB}" presName="spaceRect" presStyleCnt="0"/>
      <dgm:spPr/>
    </dgm:pt>
    <dgm:pt modelId="{1A3BAE5A-B26D-48E6-8EE0-009E32965B99}" type="pres">
      <dgm:prSet presAssocID="{B1D6CA12-2BF1-47EB-9E95-B36B40062BAB}" presName="parTx" presStyleLbl="revTx" presStyleIdx="0" presStyleCnt="3">
        <dgm:presLayoutVars>
          <dgm:chMax val="0"/>
          <dgm:chPref val="0"/>
        </dgm:presLayoutVars>
      </dgm:prSet>
      <dgm:spPr/>
    </dgm:pt>
    <dgm:pt modelId="{0D7576F0-FACF-4606-BE25-4C15899DD7BD}" type="pres">
      <dgm:prSet presAssocID="{851E921E-5404-404D-BDB1-A8BE856734A7}" presName="sibTrans" presStyleCnt="0"/>
      <dgm:spPr/>
    </dgm:pt>
    <dgm:pt modelId="{74729475-B284-4F7A-84B5-3A165177AB64}" type="pres">
      <dgm:prSet presAssocID="{E57E9F10-A503-46CA-BA21-935ADB0E41DE}" presName="compNode" presStyleCnt="0"/>
      <dgm:spPr/>
    </dgm:pt>
    <dgm:pt modelId="{7CE71F2F-8EAD-41A3-9EB7-19791E4D028F}" type="pres">
      <dgm:prSet presAssocID="{E57E9F10-A503-46CA-BA21-935ADB0E41DE}" presName="bgRect" presStyleLbl="bgShp" presStyleIdx="1" presStyleCnt="3"/>
      <dgm:spPr>
        <a:solidFill>
          <a:schemeClr val="accent1"/>
        </a:solidFill>
      </dgm:spPr>
    </dgm:pt>
    <dgm:pt modelId="{BDE0CE67-62BF-4894-883E-D9008601A9B0}" type="pres">
      <dgm:prSet presAssocID="{E57E9F10-A503-46CA-BA21-935ADB0E41D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324773CD-709C-4C6F-99A0-6E94D3EFF742}" type="pres">
      <dgm:prSet presAssocID="{E57E9F10-A503-46CA-BA21-935ADB0E41DE}" presName="spaceRect" presStyleCnt="0"/>
      <dgm:spPr/>
    </dgm:pt>
    <dgm:pt modelId="{8C447845-549C-46F7-8232-CF54994C7883}" type="pres">
      <dgm:prSet presAssocID="{E57E9F10-A503-46CA-BA21-935ADB0E41DE}" presName="parTx" presStyleLbl="revTx" presStyleIdx="1" presStyleCnt="3">
        <dgm:presLayoutVars>
          <dgm:chMax val="0"/>
          <dgm:chPref val="0"/>
        </dgm:presLayoutVars>
      </dgm:prSet>
      <dgm:spPr/>
    </dgm:pt>
    <dgm:pt modelId="{38FD6C12-C7E5-4E8A-B692-9F89C6FC8EF1}" type="pres">
      <dgm:prSet presAssocID="{038E8540-BA2E-403D-9D85-576E8CB4181C}" presName="sibTrans" presStyleCnt="0"/>
      <dgm:spPr/>
    </dgm:pt>
    <dgm:pt modelId="{AED15E2E-B7F7-4D0A-8FF6-3C8071038ACF}" type="pres">
      <dgm:prSet presAssocID="{4DB50832-51C1-48A9-B8D6-9C339322F1FB}" presName="compNode" presStyleCnt="0"/>
      <dgm:spPr/>
    </dgm:pt>
    <dgm:pt modelId="{514B4F1E-2F83-45CD-AABF-636FA05BF9E0}" type="pres">
      <dgm:prSet presAssocID="{4DB50832-51C1-48A9-B8D6-9C339322F1FB}" presName="bgRect" presStyleLbl="bgShp" presStyleIdx="2" presStyleCnt="3"/>
      <dgm:spPr>
        <a:solidFill>
          <a:schemeClr val="accent1"/>
        </a:solidFill>
      </dgm:spPr>
    </dgm:pt>
    <dgm:pt modelId="{E05BCB1B-927D-4DE4-ACD6-AD59E4C62FBC}" type="pres">
      <dgm:prSet presAssocID="{4DB50832-51C1-48A9-B8D6-9C339322F1F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62A2EDB6-958F-4283-BDD6-A2093F5B1C61}" type="pres">
      <dgm:prSet presAssocID="{4DB50832-51C1-48A9-B8D6-9C339322F1FB}" presName="spaceRect" presStyleCnt="0"/>
      <dgm:spPr/>
    </dgm:pt>
    <dgm:pt modelId="{0FF86136-B9F4-4494-B46D-647EC59FE848}" type="pres">
      <dgm:prSet presAssocID="{4DB50832-51C1-48A9-B8D6-9C339322F1F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624545B-D0EB-4B14-9D8F-C9995B8F28C1}" type="presOf" srcId="{E57E9F10-A503-46CA-BA21-935ADB0E41DE}" destId="{8C447845-549C-46F7-8232-CF54994C7883}" srcOrd="0" destOrd="0" presId="urn:microsoft.com/office/officeart/2018/2/layout/IconVerticalSolidList"/>
    <dgm:cxn modelId="{EF025A5D-39CF-4F2F-B080-F745CD2B18E7}" srcId="{75684F5C-29B1-4F8F-AFEF-2066EE05DEC4}" destId="{4DB50832-51C1-48A9-B8D6-9C339322F1FB}" srcOrd="2" destOrd="0" parTransId="{575A92A1-F45B-433C-9FB6-D6BAE309CB04}" sibTransId="{BEF6ADCC-A9BF-4815-87BD-F03388C807AE}"/>
    <dgm:cxn modelId="{BE961587-9CC9-4E4C-AD0B-F9839C485862}" srcId="{75684F5C-29B1-4F8F-AFEF-2066EE05DEC4}" destId="{B1D6CA12-2BF1-47EB-9E95-B36B40062BAB}" srcOrd="0" destOrd="0" parTransId="{DFA823E6-90AD-47C2-98B0-3C2EF5242331}" sibTransId="{851E921E-5404-404D-BDB1-A8BE856734A7}"/>
    <dgm:cxn modelId="{287F0EA6-0B78-4B8F-9758-9C011448BABB}" type="presOf" srcId="{75684F5C-29B1-4F8F-AFEF-2066EE05DEC4}" destId="{01728F60-22A7-43C8-B374-BCA9F131A1E7}" srcOrd="0" destOrd="0" presId="urn:microsoft.com/office/officeart/2018/2/layout/IconVerticalSolidList"/>
    <dgm:cxn modelId="{666092B0-17A5-47FF-B8D4-7D75C6444663}" srcId="{75684F5C-29B1-4F8F-AFEF-2066EE05DEC4}" destId="{E57E9F10-A503-46CA-BA21-935ADB0E41DE}" srcOrd="1" destOrd="0" parTransId="{77BCC120-5839-4CF3-A016-3FAC309388B7}" sibTransId="{038E8540-BA2E-403D-9D85-576E8CB4181C}"/>
    <dgm:cxn modelId="{532522E7-E1A0-40A2-BCE0-DEF3B124B354}" type="presOf" srcId="{4DB50832-51C1-48A9-B8D6-9C339322F1FB}" destId="{0FF86136-B9F4-4494-B46D-647EC59FE848}" srcOrd="0" destOrd="0" presId="urn:microsoft.com/office/officeart/2018/2/layout/IconVerticalSolidList"/>
    <dgm:cxn modelId="{780DC4EC-BD71-439F-9AD1-7782CF051369}" type="presOf" srcId="{B1D6CA12-2BF1-47EB-9E95-B36B40062BAB}" destId="{1A3BAE5A-B26D-48E6-8EE0-009E32965B99}" srcOrd="0" destOrd="0" presId="urn:microsoft.com/office/officeart/2018/2/layout/IconVerticalSolidList"/>
    <dgm:cxn modelId="{88557A46-5399-4C53-B15F-24C0FE96B410}" type="presParOf" srcId="{01728F60-22A7-43C8-B374-BCA9F131A1E7}" destId="{561E86B0-6C2B-4666-BE4C-06E0A88549D0}" srcOrd="0" destOrd="0" presId="urn:microsoft.com/office/officeart/2018/2/layout/IconVerticalSolidList"/>
    <dgm:cxn modelId="{FAE59259-BB15-418C-BD07-9AB3753C6A71}" type="presParOf" srcId="{561E86B0-6C2B-4666-BE4C-06E0A88549D0}" destId="{AFA9E259-9A55-4CFC-B9C6-45CFFD62DA6D}" srcOrd="0" destOrd="0" presId="urn:microsoft.com/office/officeart/2018/2/layout/IconVerticalSolidList"/>
    <dgm:cxn modelId="{07183173-BE03-481D-B499-6E9ACB787B81}" type="presParOf" srcId="{561E86B0-6C2B-4666-BE4C-06E0A88549D0}" destId="{F01C81CB-90C2-47C6-94CD-1F7DEDB03AA6}" srcOrd="1" destOrd="0" presId="urn:microsoft.com/office/officeart/2018/2/layout/IconVerticalSolidList"/>
    <dgm:cxn modelId="{1A206858-39DE-4C14-A61D-47C92026A334}" type="presParOf" srcId="{561E86B0-6C2B-4666-BE4C-06E0A88549D0}" destId="{F3263785-D1C9-47D0-9CD6-8E62D65A1F7B}" srcOrd="2" destOrd="0" presId="urn:microsoft.com/office/officeart/2018/2/layout/IconVerticalSolidList"/>
    <dgm:cxn modelId="{CA1DC757-CC53-49D8-9821-5B61B4D3437B}" type="presParOf" srcId="{561E86B0-6C2B-4666-BE4C-06E0A88549D0}" destId="{1A3BAE5A-B26D-48E6-8EE0-009E32965B99}" srcOrd="3" destOrd="0" presId="urn:microsoft.com/office/officeart/2018/2/layout/IconVerticalSolidList"/>
    <dgm:cxn modelId="{82394DA9-E258-42D8-9864-2FC5C8BE8974}" type="presParOf" srcId="{01728F60-22A7-43C8-B374-BCA9F131A1E7}" destId="{0D7576F0-FACF-4606-BE25-4C15899DD7BD}" srcOrd="1" destOrd="0" presId="urn:microsoft.com/office/officeart/2018/2/layout/IconVerticalSolidList"/>
    <dgm:cxn modelId="{1F6D3937-2A57-45C4-8FA1-4E7A3D699A6F}" type="presParOf" srcId="{01728F60-22A7-43C8-B374-BCA9F131A1E7}" destId="{74729475-B284-4F7A-84B5-3A165177AB64}" srcOrd="2" destOrd="0" presId="urn:microsoft.com/office/officeart/2018/2/layout/IconVerticalSolidList"/>
    <dgm:cxn modelId="{6BED1370-FA4E-49AB-BBF9-A84B4541CCAF}" type="presParOf" srcId="{74729475-B284-4F7A-84B5-3A165177AB64}" destId="{7CE71F2F-8EAD-41A3-9EB7-19791E4D028F}" srcOrd="0" destOrd="0" presId="urn:microsoft.com/office/officeart/2018/2/layout/IconVerticalSolidList"/>
    <dgm:cxn modelId="{38070D63-31FF-4FEE-9D53-393B4891709E}" type="presParOf" srcId="{74729475-B284-4F7A-84B5-3A165177AB64}" destId="{BDE0CE67-62BF-4894-883E-D9008601A9B0}" srcOrd="1" destOrd="0" presId="urn:microsoft.com/office/officeart/2018/2/layout/IconVerticalSolidList"/>
    <dgm:cxn modelId="{46F35674-19D9-4DB2-B90E-B3CCFDBC6275}" type="presParOf" srcId="{74729475-B284-4F7A-84B5-3A165177AB64}" destId="{324773CD-709C-4C6F-99A0-6E94D3EFF742}" srcOrd="2" destOrd="0" presId="urn:microsoft.com/office/officeart/2018/2/layout/IconVerticalSolidList"/>
    <dgm:cxn modelId="{52EEA167-1DC7-477D-B8A9-6A2ACDFEACEE}" type="presParOf" srcId="{74729475-B284-4F7A-84B5-3A165177AB64}" destId="{8C447845-549C-46F7-8232-CF54994C7883}" srcOrd="3" destOrd="0" presId="urn:microsoft.com/office/officeart/2018/2/layout/IconVerticalSolidList"/>
    <dgm:cxn modelId="{EB720A91-B998-4F03-A75B-59243D5137E7}" type="presParOf" srcId="{01728F60-22A7-43C8-B374-BCA9F131A1E7}" destId="{38FD6C12-C7E5-4E8A-B692-9F89C6FC8EF1}" srcOrd="3" destOrd="0" presId="urn:microsoft.com/office/officeart/2018/2/layout/IconVerticalSolidList"/>
    <dgm:cxn modelId="{D61B90CC-CE79-4F9E-8F2F-E0D9549012DD}" type="presParOf" srcId="{01728F60-22A7-43C8-B374-BCA9F131A1E7}" destId="{AED15E2E-B7F7-4D0A-8FF6-3C8071038ACF}" srcOrd="4" destOrd="0" presId="urn:microsoft.com/office/officeart/2018/2/layout/IconVerticalSolidList"/>
    <dgm:cxn modelId="{5C389E88-4F37-4678-8E5B-748DD7877DE0}" type="presParOf" srcId="{AED15E2E-B7F7-4D0A-8FF6-3C8071038ACF}" destId="{514B4F1E-2F83-45CD-AABF-636FA05BF9E0}" srcOrd="0" destOrd="0" presId="urn:microsoft.com/office/officeart/2018/2/layout/IconVerticalSolidList"/>
    <dgm:cxn modelId="{1F169B4A-E8E5-4159-8158-B94D8CFBBDC2}" type="presParOf" srcId="{AED15E2E-B7F7-4D0A-8FF6-3C8071038ACF}" destId="{E05BCB1B-927D-4DE4-ACD6-AD59E4C62FBC}" srcOrd="1" destOrd="0" presId="urn:microsoft.com/office/officeart/2018/2/layout/IconVerticalSolidList"/>
    <dgm:cxn modelId="{7C98C44F-9A55-4564-9286-3AAD7936ECF9}" type="presParOf" srcId="{AED15E2E-B7F7-4D0A-8FF6-3C8071038ACF}" destId="{62A2EDB6-958F-4283-BDD6-A2093F5B1C61}" srcOrd="2" destOrd="0" presId="urn:microsoft.com/office/officeart/2018/2/layout/IconVerticalSolidList"/>
    <dgm:cxn modelId="{EA3CB55B-D7A0-495F-B906-063CD52B71E5}" type="presParOf" srcId="{AED15E2E-B7F7-4D0A-8FF6-3C8071038ACF}" destId="{0FF86136-B9F4-4494-B46D-647EC59FE84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3D4E11-EC7E-4CB7-A6D6-42D8B498D2F6}">
      <dsp:nvSpPr>
        <dsp:cNvPr id="0" name=""/>
        <dsp:cNvSpPr/>
      </dsp:nvSpPr>
      <dsp:spPr>
        <a:xfrm>
          <a:off x="0" y="0"/>
          <a:ext cx="6239484" cy="5828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500" b="1" i="0" kern="1200"/>
            <a:t>Calidad de los datos:</a:t>
          </a:r>
          <a:r>
            <a:rPr lang="es-CR" sz="1500" b="0" i="0" kern="1200"/>
            <a:t> auditoría, depuración, normalización y control de consistencia antes del modelado.</a:t>
          </a:r>
          <a:endParaRPr lang="en-US" sz="1500" kern="1200"/>
        </a:p>
      </dsp:txBody>
      <dsp:txXfrm>
        <a:off x="17072" y="17072"/>
        <a:ext cx="5542295" cy="548751"/>
      </dsp:txXfrm>
    </dsp:sp>
    <dsp:sp modelId="{107366C5-C283-4320-AD34-CF08D0DC0251}">
      <dsp:nvSpPr>
        <dsp:cNvPr id="0" name=""/>
        <dsp:cNvSpPr/>
      </dsp:nvSpPr>
      <dsp:spPr>
        <a:xfrm>
          <a:off x="465935" y="663853"/>
          <a:ext cx="6239484" cy="5828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500" b="1" i="0" kern="1200"/>
            <a:t>Trazabilidad:</a:t>
          </a:r>
          <a:r>
            <a:rPr lang="es-CR" sz="1500" b="0" i="0" kern="1200"/>
            <a:t> documentación de las fuentes, transformaciones, exclusiones y productos generados.</a:t>
          </a:r>
          <a:endParaRPr lang="en-US" sz="1500" kern="1200"/>
        </a:p>
      </dsp:txBody>
      <dsp:txXfrm>
        <a:off x="483007" y="680925"/>
        <a:ext cx="5360522" cy="548751"/>
      </dsp:txXfrm>
    </dsp:sp>
    <dsp:sp modelId="{2730FE43-D032-4C7A-A304-B81F38E432FD}">
      <dsp:nvSpPr>
        <dsp:cNvPr id="0" name=""/>
        <dsp:cNvSpPr/>
      </dsp:nvSpPr>
      <dsp:spPr>
        <a:xfrm>
          <a:off x="931870" y="1327707"/>
          <a:ext cx="6239484" cy="5828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500" b="1" i="0" kern="1200"/>
            <a:t>Reproducibilidad:</a:t>
          </a:r>
          <a:r>
            <a:rPr lang="es-CR" sz="1500" b="0" i="0" kern="1200"/>
            <a:t> procesos estructurados en código, configuraciones y salidas verificables.</a:t>
          </a:r>
          <a:endParaRPr lang="en-US" sz="1500" kern="1200"/>
        </a:p>
      </dsp:txBody>
      <dsp:txXfrm>
        <a:off x="948942" y="1344779"/>
        <a:ext cx="5360522" cy="548751"/>
      </dsp:txXfrm>
    </dsp:sp>
    <dsp:sp modelId="{6900EA76-36EC-441A-8954-26DB28DCAAB4}">
      <dsp:nvSpPr>
        <dsp:cNvPr id="0" name=""/>
        <dsp:cNvSpPr/>
      </dsp:nvSpPr>
      <dsp:spPr>
        <a:xfrm>
          <a:off x="1397806" y="1991561"/>
          <a:ext cx="6239484" cy="5828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500" b="1" i="0" kern="1200"/>
            <a:t>Rigor metodológico:</a:t>
          </a:r>
          <a:r>
            <a:rPr lang="es-CR" sz="1500" b="0" i="0" kern="1200"/>
            <a:t> separación espacial de los datos y uso de métricas comparables entre modelos.</a:t>
          </a:r>
          <a:endParaRPr lang="en-US" sz="1500" kern="1200"/>
        </a:p>
      </dsp:txBody>
      <dsp:txXfrm>
        <a:off x="1414878" y="2008633"/>
        <a:ext cx="5360522" cy="548751"/>
      </dsp:txXfrm>
    </dsp:sp>
    <dsp:sp modelId="{7A0F5CFE-BB9D-4110-A7E8-8709D21AEA56}">
      <dsp:nvSpPr>
        <dsp:cNvPr id="0" name=""/>
        <dsp:cNvSpPr/>
      </dsp:nvSpPr>
      <dsp:spPr>
        <a:xfrm>
          <a:off x="1863741" y="2655415"/>
          <a:ext cx="6239484" cy="5828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500" b="1" i="0" kern="1200"/>
            <a:t>Aplicabilidad:</a:t>
          </a:r>
          <a:r>
            <a:rPr lang="es-CR" sz="1500" b="0" i="0" kern="1200"/>
            <a:t> desarrollo de procedimientos replicables para incorporar nuevos datos y ampliar el análisis regional.</a:t>
          </a:r>
          <a:endParaRPr lang="en-US" sz="1500" kern="1200"/>
        </a:p>
      </dsp:txBody>
      <dsp:txXfrm>
        <a:off x="1880813" y="2672487"/>
        <a:ext cx="5360522" cy="548751"/>
      </dsp:txXfrm>
    </dsp:sp>
    <dsp:sp modelId="{8572B43C-CB60-4560-BF68-7856A67FB17A}">
      <dsp:nvSpPr>
        <dsp:cNvPr id="0" name=""/>
        <dsp:cNvSpPr/>
      </dsp:nvSpPr>
      <dsp:spPr>
        <a:xfrm>
          <a:off x="5860601" y="425837"/>
          <a:ext cx="378882" cy="37888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5945849" y="425837"/>
        <a:ext cx="208386" cy="285109"/>
      </dsp:txXfrm>
    </dsp:sp>
    <dsp:sp modelId="{F61C4A37-5226-4148-BFE6-F0468DB43292}">
      <dsp:nvSpPr>
        <dsp:cNvPr id="0" name=""/>
        <dsp:cNvSpPr/>
      </dsp:nvSpPr>
      <dsp:spPr>
        <a:xfrm>
          <a:off x="6326537" y="1089691"/>
          <a:ext cx="378882" cy="37888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411785" y="1089691"/>
        <a:ext cx="208386" cy="285109"/>
      </dsp:txXfrm>
    </dsp:sp>
    <dsp:sp modelId="{10561886-A199-4220-A6B4-D2A48CC9986D}">
      <dsp:nvSpPr>
        <dsp:cNvPr id="0" name=""/>
        <dsp:cNvSpPr/>
      </dsp:nvSpPr>
      <dsp:spPr>
        <a:xfrm>
          <a:off x="6792472" y="1743830"/>
          <a:ext cx="378882" cy="37888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877720" y="1743830"/>
        <a:ext cx="208386" cy="285109"/>
      </dsp:txXfrm>
    </dsp:sp>
    <dsp:sp modelId="{0A676BF8-5613-45EA-B03C-37B3B34B8FFB}">
      <dsp:nvSpPr>
        <dsp:cNvPr id="0" name=""/>
        <dsp:cNvSpPr/>
      </dsp:nvSpPr>
      <dsp:spPr>
        <a:xfrm>
          <a:off x="7258408" y="2414160"/>
          <a:ext cx="378882" cy="37888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7343656" y="2414160"/>
        <a:ext cx="208386" cy="2851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94A033-8B39-4B06-BF6A-F08C145F223A}">
      <dsp:nvSpPr>
        <dsp:cNvPr id="0" name=""/>
        <dsp:cNvSpPr/>
      </dsp:nvSpPr>
      <dsp:spPr>
        <a:xfrm>
          <a:off x="188695" y="522026"/>
          <a:ext cx="3754654" cy="22527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 </a:t>
          </a:r>
          <a:r>
            <a:rPr lang="es-419" sz="20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entiede</a:t>
          </a:r>
          <a:r>
            <a:rPr lang="es-419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como una evaluación sistemática de la calidad, consistencia y trazabilidad de la base de datos antes de ser usada en el proceso de modelado</a:t>
          </a:r>
          <a:endParaRPr lang="en-US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88695" y="522026"/>
        <a:ext cx="3754654" cy="2252792"/>
      </dsp:txXfrm>
    </dsp:sp>
    <dsp:sp modelId="{19342363-A4D2-4725-903E-85F551622FBC}">
      <dsp:nvSpPr>
        <dsp:cNvPr id="0" name=""/>
        <dsp:cNvSpPr/>
      </dsp:nvSpPr>
      <dsp:spPr>
        <a:xfrm>
          <a:off x="4131082" y="505355"/>
          <a:ext cx="3754654" cy="22527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 finalidad es obtener una base depurada, documentada y apta para procesos posteriores</a:t>
          </a:r>
          <a:endParaRPr lang="en-US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131082" y="505355"/>
        <a:ext cx="3754654" cy="22527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A9E259-9A55-4CFC-B9C6-45CFFD62DA6D}">
      <dsp:nvSpPr>
        <dsp:cNvPr id="0" name=""/>
        <dsp:cNvSpPr/>
      </dsp:nvSpPr>
      <dsp:spPr>
        <a:xfrm>
          <a:off x="0" y="0"/>
          <a:ext cx="8585557" cy="676847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1C81CB-90C2-47C6-94CD-1F7DEDB03AA6}">
      <dsp:nvSpPr>
        <dsp:cNvPr id="0" name=""/>
        <dsp:cNvSpPr/>
      </dsp:nvSpPr>
      <dsp:spPr>
        <a:xfrm>
          <a:off x="204746" y="152580"/>
          <a:ext cx="372266" cy="3722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3BAE5A-B26D-48E6-8EE0-009E32965B99}">
      <dsp:nvSpPr>
        <dsp:cNvPr id="0" name=""/>
        <dsp:cNvSpPr/>
      </dsp:nvSpPr>
      <dsp:spPr>
        <a:xfrm>
          <a:off x="781759" y="289"/>
          <a:ext cx="7803797" cy="676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33" tIns="71633" rIns="71633" bIns="7163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La base de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datos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proviene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de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una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consultoría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previa.</a:t>
          </a:r>
        </a:p>
      </dsp:txBody>
      <dsp:txXfrm>
        <a:off x="781759" y="289"/>
        <a:ext cx="7803797" cy="676847"/>
      </dsp:txXfrm>
    </dsp:sp>
    <dsp:sp modelId="{7CE71F2F-8EAD-41A3-9EB7-19791E4D028F}">
      <dsp:nvSpPr>
        <dsp:cNvPr id="0" name=""/>
        <dsp:cNvSpPr/>
      </dsp:nvSpPr>
      <dsp:spPr>
        <a:xfrm>
          <a:off x="0" y="846349"/>
          <a:ext cx="8585557" cy="676847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E0CE67-62BF-4894-883E-D9008601A9B0}">
      <dsp:nvSpPr>
        <dsp:cNvPr id="0" name=""/>
        <dsp:cNvSpPr/>
      </dsp:nvSpPr>
      <dsp:spPr>
        <a:xfrm>
          <a:off x="204746" y="998639"/>
          <a:ext cx="372266" cy="3722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447845-549C-46F7-8232-CF54994C7883}">
      <dsp:nvSpPr>
        <dsp:cNvPr id="0" name=""/>
        <dsp:cNvSpPr/>
      </dsp:nvSpPr>
      <dsp:spPr>
        <a:xfrm>
          <a:off x="781759" y="846349"/>
          <a:ext cx="7803797" cy="676847"/>
        </a:xfrm>
        <a:prstGeom prst="rect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33" tIns="71633" rIns="71633" bIns="7163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Fue enfoque en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recompilar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las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fuentes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originales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el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trabajo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actual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debe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concentrarse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auditar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normalizar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hacer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trazable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la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información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existente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</a:p>
      </dsp:txBody>
      <dsp:txXfrm>
        <a:off x="781759" y="846349"/>
        <a:ext cx="7803797" cy="676847"/>
      </dsp:txXfrm>
    </dsp:sp>
    <dsp:sp modelId="{514B4F1E-2F83-45CD-AABF-636FA05BF9E0}">
      <dsp:nvSpPr>
        <dsp:cNvPr id="0" name=""/>
        <dsp:cNvSpPr/>
      </dsp:nvSpPr>
      <dsp:spPr>
        <a:xfrm>
          <a:off x="0" y="1692408"/>
          <a:ext cx="8585557" cy="676847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5BCB1B-927D-4DE4-ACD6-AD59E4C62FBC}">
      <dsp:nvSpPr>
        <dsp:cNvPr id="0" name=""/>
        <dsp:cNvSpPr/>
      </dsp:nvSpPr>
      <dsp:spPr>
        <a:xfrm>
          <a:off x="204746" y="1844699"/>
          <a:ext cx="372266" cy="3722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86136-B9F4-4494-B46D-647EC59FE848}">
      <dsp:nvSpPr>
        <dsp:cNvPr id="0" name=""/>
        <dsp:cNvSpPr/>
      </dsp:nvSpPr>
      <dsp:spPr>
        <a:xfrm>
          <a:off x="781759" y="1692408"/>
          <a:ext cx="7803797" cy="676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33" tIns="71633" rIns="71633" bIns="7163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El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flujo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propuesto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ordena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la base,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identifica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conflictos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prepara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una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llave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de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clasificación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operativa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para el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mapeo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700" kern="1200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forestal</a:t>
          </a:r>
          <a:r>
            <a:rPr lang="en-US" sz="17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</a:p>
      </dsp:txBody>
      <dsp:txXfrm>
        <a:off x="781759" y="1692408"/>
        <a:ext cx="7803797" cy="6768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R"/>
              <a:t>Esta diapositiva permite incluir el título de la presentación, un subtítulo, autor(a) y otros datos.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BAC7F-EF7A-4D47-956E-035FEFBBAE8C}" type="slidenum">
              <a:rPr lang="es-CR" smtClean="0"/>
              <a:t>1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31034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s-CR"/>
              <a:t>Enfoque: aplicar técnicas de Ciencia de Datos para su recopilación, preparación, análisis, visualización y gestión, consolidando una base de datos estandarizada para el modelado.</a:t>
            </a:r>
          </a:p>
          <a:p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89462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/>
              <a:t>Ojo señalar que usamos una base de datos heredada y también en el caso de las </a:t>
            </a:r>
            <a:r>
              <a:rPr lang="es-419" err="1"/>
              <a:t>co-variables</a:t>
            </a:r>
            <a:r>
              <a:rPr lang="es-419"/>
              <a:t>.</a:t>
            </a:r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06615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20966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90436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25395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/>
              <a:t>Decir qué estamos entendiendo por homologación de clases (con las clases propuestas). Problemas con distribución espacial. </a:t>
            </a:r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12529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/>
              <a:t>Acá señalar que esto es diferente de lo usual y la importancia de la base de datos, importancia de esto para otras instituciones</a:t>
            </a:r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20236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/>
              <a:t>Decir que modelar necesita buenas prácticas cosas bien hechas, señalar porque generalmente se falla en cosas como fuga de datos entre entrenamiento y validación y esa tipo de cosas. </a:t>
            </a:r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903219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s-419"/>
              <a:t>Señalar lo complejo que hay detrás, y señalar que son un montón de tareas y su escalado en toda la región es sumamente desafiante. </a:t>
            </a:r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88244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EC96D-45E4-A1A5-EC12-90EFE61B5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A4145-A782-A487-B367-C9EB4D516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95D35-D25F-74B3-818B-A623CCA56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s-419"/>
              <a:t>Porque se probaron diferentes modelos, porque es necesario comparar y ver que todos tienen comportamiento diferenciados que pueden llevar a obtener un modelo adecuado. No se puede utilizar un único algoritmo. </a:t>
            </a:r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0852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0C7AF-FA26-6186-3606-3544656E5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E9F2DC-8010-8FAC-1AB6-130A027A9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228EB-A079-A6F2-B700-2A0217222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963527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80722-B1AF-EABE-1E52-85F5CF8DF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4EE93-CAFD-2EFA-686A-EE037BDDF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AC8CB-D94C-AD09-A886-85651C5BF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s-419"/>
              <a:t>Poner acá los modelos aplicados para visualizar. </a:t>
            </a:r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602698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/>
              <a:t>No puede ser perfecto</a:t>
            </a:r>
            <a:r>
              <a:rPr lang="es-CR"/>
              <a:t> pero se debe mejorar algunos errores sistemáticos desde la fuente de datos (eso es un gran desafío de modelado a estas escalas)</a:t>
            </a:r>
          </a:p>
          <a:p>
            <a:r>
              <a:rPr lang="es-CR"/>
              <a:t>Pasar del pilotaje a la implementación real es un desafío </a:t>
            </a:r>
          </a:p>
          <a:p>
            <a:r>
              <a:rPr lang="es-CR"/>
              <a:t>La necesidad de integración de equipos de trabajo</a:t>
            </a:r>
          </a:p>
          <a:p>
            <a:r>
              <a:rPr lang="es-CR"/>
              <a:t>La necesidad de equipo/servidores que sea capaces de ejecutar este proceso piloto a toda la región</a:t>
            </a:r>
          </a:p>
          <a:p>
            <a:endParaRPr lang="es-CR"/>
          </a:p>
          <a:p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783361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AE3FD-ED46-7242-E0FD-F25EB93B0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372BDA-8251-6993-01C1-6CC8A084F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8B9E31-7869-4350-22C7-A820F6594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FEF1-BFC8-4110-B735-EA27B0CF8461}" type="datetime1">
              <a:rPr lang="es-CR" smtClean="0"/>
              <a:t>30/7/2026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AD204F-388E-760A-340A-E275F435A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56C8A3-4E51-BC4C-08C4-0C10F0B1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92392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1F6DE-410A-432C-1C59-295B9C8F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ED4B38-CCB2-E58A-BA18-BAE25E5A7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A9F16F-B98F-9744-E552-210D4657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48A6-7D67-4E03-8E3B-40372D5398A2}" type="datetime1">
              <a:rPr lang="es-CR" smtClean="0"/>
              <a:t>30/7/2026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5D4C4E-147F-95E7-CFBE-CFE7B2E6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E15616-1910-14EC-6B1A-EC14FDC2D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2590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700B9-E321-F4B2-8747-AC125F86A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46A327-1D61-691D-C5B6-45CD48DF3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F67425-26EC-B27D-2F49-233259C3A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09A6-4E6C-4262-AD72-0E0FE64E9A0B}" type="datetime1">
              <a:rPr lang="es-CR" smtClean="0"/>
              <a:t>30/7/2026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91BB26-58C4-1FA6-C27D-9520ADA9F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BF5DDA-18C6-9E4E-B3FA-D6CD74439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4654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B34AF-C39B-AC7A-8A41-38BF4A5AC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DC769D-35D1-A327-DA88-668C97B294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12E5D6-2E10-0746-4F0D-35E0741DB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161EBE-1321-62A1-7B57-8205E3396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502C4-CAA5-4718-9FEC-D8ABCA356D60}" type="datetime1">
              <a:rPr lang="es-CR" smtClean="0"/>
              <a:t>30/7/2026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1B1B1C-4A76-9846-CE0C-9D65D5556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EB8792-68ED-F72A-3945-2581C5ACA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89516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D8DEEF-F953-5831-10E5-FA71A50C5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A02C1F-01F7-1C2C-7BC8-B6C92F5DF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2793DB-ACED-1515-74D5-19385D279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E044E2-06C5-7223-65CA-B91C555F1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274323D-51AF-0EEE-C075-EBF5AECF4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FACF678-C6AA-CB73-143A-09DC9D418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42C5-81EA-4E68-8B88-D36C461ED6C9}" type="datetime1">
              <a:rPr lang="es-CR" smtClean="0"/>
              <a:t>30/7/2026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06B3395-B084-B9C0-BE80-122FDFBC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89B045-D80E-B843-4693-9CB42336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67247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C906A-9465-EA0C-A08B-576691E7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1D5DD5-EB1E-B1E3-D981-4D5713EA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497F2-358F-4577-B5AF-58156F766FFD}" type="datetime1">
              <a:rPr lang="es-CR" smtClean="0"/>
              <a:t>30/7/2026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8A5DB6-90A1-0C1D-8CE2-5F1C23C1D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C8F92A3-411E-33E8-607C-6D2A9B9C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48370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74A19D4-D9B3-B99F-14F7-93996792D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89EFA-9F44-4946-9F61-6234B6AA3E38}" type="datetime1">
              <a:rPr lang="es-CR" smtClean="0"/>
              <a:t>30/7/2026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D0E590-2FB0-32C6-7654-A8785165E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642952-520E-FDC6-DEE9-7F76C318A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49639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9458C-E4F1-A042-774F-8BC81E6EE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5DE147-655C-59A3-7330-C6E1A297E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27B7B9-74D7-429F-7B7B-CA53655D2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C45C0D-433E-9CD4-5D56-DC87B52F9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D87F-6696-486C-B59C-B06C5058956B}" type="datetime1">
              <a:rPr lang="es-CR" smtClean="0"/>
              <a:t>30/7/2026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DD07C9-FEB7-E83F-2311-D232C6474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450E3C-F4A1-F90E-1D61-848DE6F45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4418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C0CA16-8FDF-53FC-B1DD-C45941801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E01BF4C-AA5C-EC42-31DF-08BE46252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B401A3-E64A-FBBA-921F-A6DDFCD6E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264378-2B82-E9DC-9542-36D0DC4C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0F99E-D999-48B0-ABFC-652D2348904B}" type="datetime1">
              <a:rPr lang="es-CR" smtClean="0"/>
              <a:t>30/7/2026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EB987B-D657-63B6-949B-D4B5D661E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D2EEAB-DD0F-7C82-61C6-D1DBD8FEA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12988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B55FE-8183-A70F-421D-3D2D57F55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6EAAE5-EBAD-2AC8-7F27-0C42CEC12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9DFCE7-04B1-DDE5-8757-CD43DE25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B9E69-97C6-4006-97F6-2869712AEB45}" type="datetime1">
              <a:rPr lang="es-CR" smtClean="0"/>
              <a:t>30/7/2026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B419B4-D4CB-F296-A54D-B5E768D87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34BA54-62DB-DD38-90A5-DFAD47CED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12484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81A941-97F5-DD3C-2070-5D4E2702D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648FE9-8CF1-FC49-6CEB-9502888CA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F21834-06BC-9F3A-B85F-CC3E8743C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2AF92-E84E-4627-98FF-14FB5E3B2F32}" type="datetime1">
              <a:rPr lang="es-CR" smtClean="0"/>
              <a:t>30/7/2026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2BC848-B70B-0F76-D85A-28A94FA37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7360EB-89C6-4E26-1F3D-CFD944AA7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6661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C23068B-E003-E370-0262-9D2166F54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BE99B9-DFC8-AAAA-4EEC-C8D362B29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C09AB1-6095-223B-8356-49CAA68F5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992A0D-163E-42F5-8B81-4A88E3F656E6}" type="datetime1">
              <a:rPr lang="es-CR" smtClean="0"/>
              <a:t>30/7/2026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4DADAC-744D-0C39-5EE1-E31EEB965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ED5EF6-8A20-6752-D079-AA1277E5D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30FF26-A9ED-B74F-80D1-0846E645FC60}" type="slidenum">
              <a:rPr lang="es-CR" smtClean="0"/>
              <a:t>‹#›</a:t>
            </a:fld>
            <a:endParaRPr lang="es-C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5140F61-66C8-C269-317B-56888679E63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00100" y="4797435"/>
            <a:ext cx="3144883" cy="1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4289" rIns="34289" anchor="ctr"/>
          <a:lstStyle/>
          <a:p>
            <a:pPr eaLnBrk="1">
              <a:lnSpc>
                <a:spcPct val="90000"/>
              </a:lnSpc>
            </a:pPr>
            <a:r>
              <a:rPr lang="es-CR" altLang="es-CR" sz="600">
                <a:solidFill>
                  <a:srgbClr val="00125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 Bold" panose="020B0502040504020204" pitchFamily="34" charset="0"/>
              </a:rPr>
              <a:t>Unión Europea</a:t>
            </a:r>
            <a:r>
              <a:rPr lang="es-CR" altLang="es-CR" sz="600">
                <a:solidFill>
                  <a:srgbClr val="FFCC0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 Bold" panose="020B0502040504020204" pitchFamily="34" charset="0"/>
              </a:rPr>
              <a:t>・ </a:t>
            </a:r>
            <a:r>
              <a:rPr lang="es-CR" altLang="es-CR" sz="600">
                <a:solidFill>
                  <a:srgbClr val="00125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 Bold" panose="020B0502040504020204" pitchFamily="34" charset="0"/>
              </a:rPr>
              <a:t>Programa Grandes Bosques de Mesoamérica</a:t>
            </a:r>
            <a:r>
              <a:rPr lang="es-CR" altLang="es-CR" sz="600">
                <a:solidFill>
                  <a:srgbClr val="FFCC0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 Bold" panose="020B0502040504020204" pitchFamily="34" charset="0"/>
              </a:rPr>
              <a:t>・</a:t>
            </a:r>
            <a:endParaRPr lang="es-CR" altLang="es-CR" sz="600">
              <a:solidFill>
                <a:srgbClr val="00125C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 Bold" panose="020B0502040504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D840E02-4671-780B-B47E-E36E39522489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1098" y="4801352"/>
            <a:ext cx="1054759" cy="14145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3D12F02-91A4-E561-51C4-D90E9D3BEBF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7889" y="4767263"/>
            <a:ext cx="577011" cy="19203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5599F5A-AE07-554B-B489-258A55D35316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403" y="4775184"/>
            <a:ext cx="503231" cy="18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159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5_FFCB0D3D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D4340-48A5-D439-B027-240C29D4C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C80D2C-60D3-1445-C4C0-664BA44C32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>
            <a:defPPr>
              <a:defRPr lang="es-C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35642-EE3C-9969-A7C7-7319E4AF75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defPPr>
              <a:defRPr lang="es-C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R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8E43BE6-CB95-B00A-C1D4-A0B41FF4ABA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9144000" cy="5143500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F5793B83-77DD-7AC2-452D-81BDAAADAE60}"/>
              </a:ext>
            </a:extLst>
          </p:cNvPr>
          <p:cNvSpPr txBox="1">
            <a:spLocks/>
          </p:cNvSpPr>
          <p:nvPr/>
        </p:nvSpPr>
        <p:spPr>
          <a:xfrm>
            <a:off x="539366" y="1801618"/>
            <a:ext cx="4482193" cy="580049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es-C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72083">
              <a:lnSpc>
                <a:spcPct val="95000"/>
              </a:lnSpc>
              <a:spcBef>
                <a:spcPts val="375"/>
              </a:spcBef>
              <a:defRPr sz="3528">
                <a:solidFill>
                  <a:srgbClr val="FFFFFF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rPr lang="es-CR" sz="2850">
                <a:solidFill>
                  <a:srgbClr val="FFFFFF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Avances de equipo técnico.</a:t>
            </a:r>
            <a:endParaRPr lang="es-CR" sz="2600">
              <a:solidFill>
                <a:srgbClr val="FFCC06"/>
              </a:solidFill>
              <a:latin typeface="Noto Sans SemiBold"/>
              <a:ea typeface="Noto Sans SemiBold"/>
              <a:cs typeface="Noto Sans SemiBold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5E54A1F-29C6-931A-987A-854026F6991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6398" y="4512539"/>
            <a:ext cx="2331894" cy="31046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3C93168-B0DC-38BF-1BDC-1BC6C8EE612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6602" y="4432248"/>
            <a:ext cx="1366834" cy="45489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60AC616-F0B6-616A-0A00-5E28179EEBB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141"/>
          <a:stretch>
            <a:fillRect/>
          </a:stretch>
        </p:blipFill>
        <p:spPr>
          <a:xfrm>
            <a:off x="4521750" y="4136784"/>
            <a:ext cx="779234" cy="66163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21F5272-6C71-FBEC-3CD9-FD82BDA62AC3}"/>
              </a:ext>
            </a:extLst>
          </p:cNvPr>
          <p:cNvSpPr txBox="1"/>
          <p:nvPr/>
        </p:nvSpPr>
        <p:spPr>
          <a:xfrm>
            <a:off x="540475" y="3860402"/>
            <a:ext cx="3277144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C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R" sz="1050">
                <a:solidFill>
                  <a:srgbClr val="FFCC06"/>
                </a:solidFill>
                <a:latin typeface="Noto Sans"/>
                <a:ea typeface="Noto Sans"/>
                <a:cs typeface="Noto Sans"/>
              </a:rPr>
              <a:t>julio, 2026</a:t>
            </a:r>
          </a:p>
        </p:txBody>
      </p:sp>
    </p:spTree>
    <p:extLst>
      <p:ext uri="{BB962C8B-B14F-4D97-AF65-F5344CB8AC3E}">
        <p14:creationId xmlns:p14="http://schemas.microsoft.com/office/powerpoint/2010/main" val="237800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C29C61-21CD-A8B0-6768-8221A2ADD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334" y="124042"/>
            <a:ext cx="859313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tIns="45720" rIns="45719" bIns="45720" anchor="ctr"/>
          <a:lstStyle>
            <a:defPPr>
              <a:defRPr lang="es-C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s-CR" altLang="es-CR" sz="2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Noto Sans Bold" panose="020B0502040504020204" pitchFamily="34" charset="0"/>
              </a:rPr>
              <a:t>Estructura de la presentación.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6E9F8F-A447-271A-7A9A-8D8DADEE5E71}"/>
              </a:ext>
            </a:extLst>
          </p:cNvPr>
          <p:cNvSpPr txBox="1"/>
          <p:nvPr/>
        </p:nvSpPr>
        <p:spPr>
          <a:xfrm>
            <a:off x="275334" y="896521"/>
            <a:ext cx="7229052" cy="35593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500"/>
              </a:lnSpc>
            </a:pPr>
            <a:endParaRPr lang="es-CR" sz="1800" b="1" dirty="0">
              <a:solidFill>
                <a:schemeClr val="dk2"/>
              </a:solidFill>
            </a:endParaRPr>
          </a:p>
          <a:p>
            <a:pPr marL="342900" indent="-342900" algn="l">
              <a:lnSpc>
                <a:spcPts val="1500"/>
              </a:lnSpc>
              <a:buFont typeface="+mj-lt"/>
              <a:buAutoNum type="arabicPeriod"/>
            </a:pPr>
            <a:endParaRPr lang="es-CR" sz="1800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1500"/>
              </a:lnSpc>
              <a:buFont typeface="+mj-lt"/>
              <a:buAutoNum type="arabicPeriod"/>
            </a:pPr>
            <a:r>
              <a:rPr lang="es-CR" sz="18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Principios de trabajo</a:t>
            </a:r>
          </a:p>
          <a:p>
            <a:pPr marL="342900" indent="-342900">
              <a:lnSpc>
                <a:spcPts val="1500"/>
              </a:lnSpc>
              <a:buFont typeface="+mj-lt"/>
              <a:buAutoNum type="arabicPeriod"/>
            </a:pPr>
            <a:endParaRPr lang="es-CR" sz="1800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1500"/>
              </a:lnSpc>
              <a:buFont typeface="+mj-lt"/>
              <a:buAutoNum type="arabicPeriod"/>
            </a:pPr>
            <a:r>
              <a:rPr lang="es-CR" sz="18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Contexto y línea base forestal</a:t>
            </a:r>
          </a:p>
          <a:p>
            <a:pPr marL="342900" indent="-342900" algn="l">
              <a:lnSpc>
                <a:spcPts val="1500"/>
              </a:lnSpc>
              <a:buFont typeface="+mj-lt"/>
              <a:buAutoNum type="arabicPeriod"/>
            </a:pPr>
            <a:endParaRPr lang="es-CR" sz="1800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1500"/>
              </a:lnSpc>
              <a:buFont typeface="+mj-lt"/>
              <a:buAutoNum type="arabicPeriod"/>
            </a:pPr>
            <a:r>
              <a:rPr lang="es-CR" sz="18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Auditoria de la base de datos </a:t>
            </a:r>
            <a:r>
              <a:rPr lang="es-CR" sz="1800" dirty="0" err="1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pre-existente</a:t>
            </a:r>
            <a:endParaRPr lang="es-CR" sz="1800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1500"/>
              </a:lnSpc>
              <a:buFont typeface="+mj-lt"/>
              <a:buAutoNum type="arabicPeriod"/>
            </a:pPr>
            <a:endParaRPr lang="es-CR" sz="1800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1500"/>
              </a:lnSpc>
              <a:buFont typeface="+mj-lt"/>
              <a:buAutoNum type="arabicPeriod"/>
            </a:pPr>
            <a:r>
              <a:rPr lang="es-CR" sz="18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Armonización temática (clases semánticas y homologación)</a:t>
            </a:r>
          </a:p>
          <a:p>
            <a:pPr marL="342900" indent="-342900" algn="l">
              <a:lnSpc>
                <a:spcPts val="1500"/>
              </a:lnSpc>
              <a:buFont typeface="+mj-lt"/>
              <a:buAutoNum type="arabicPeriod"/>
            </a:pPr>
            <a:endParaRPr lang="es-CR" sz="1800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1500"/>
              </a:lnSpc>
              <a:buFont typeface="+mj-lt"/>
              <a:buAutoNum type="arabicPeriod"/>
            </a:pPr>
            <a:r>
              <a:rPr lang="es-CR" sz="18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Normalización y disponibilidad de datos</a:t>
            </a:r>
          </a:p>
          <a:p>
            <a:pPr marL="342900" indent="-342900">
              <a:lnSpc>
                <a:spcPts val="1500"/>
              </a:lnSpc>
              <a:buAutoNum type="arabicPeriod"/>
            </a:pPr>
            <a:endParaRPr lang="es-CR" sz="1800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1500"/>
              </a:lnSpc>
              <a:buAutoNum type="arabicPeriod"/>
            </a:pPr>
            <a:r>
              <a:rPr lang="es-CR" sz="18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Exploración: Modelado de áreas piloto </a:t>
            </a:r>
          </a:p>
          <a:p>
            <a:pPr marL="342900" indent="-342900">
              <a:lnSpc>
                <a:spcPts val="1500"/>
              </a:lnSpc>
              <a:buFont typeface="Aptos Display" panose="02110004020202020204"/>
              <a:buAutoNum type="arabicPeriod"/>
            </a:pPr>
            <a:endParaRPr lang="es-CR" sz="1800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1500"/>
              </a:lnSpc>
              <a:buFont typeface="+mj-lt"/>
              <a:buAutoNum type="arabicPeriod"/>
            </a:pPr>
            <a:r>
              <a:rPr lang="es-CR" sz="18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Conclusiones y desafíos</a:t>
            </a:r>
          </a:p>
          <a:p>
            <a:pPr marL="342900" indent="-342900" algn="l">
              <a:lnSpc>
                <a:spcPts val="1500"/>
              </a:lnSpc>
              <a:buFont typeface="+mj-lt"/>
              <a:buAutoNum type="arabicPeriod"/>
            </a:pPr>
            <a:endParaRPr lang="es-CR" sz="1800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1500"/>
              </a:lnSpc>
              <a:buFont typeface="+mj-lt"/>
              <a:buAutoNum type="arabicPeriod"/>
            </a:pPr>
            <a:r>
              <a:rPr lang="es-CR" sz="18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Acceso a los resultados y datos generados</a:t>
            </a:r>
          </a:p>
          <a:p>
            <a:pPr marL="342900" indent="-342900" algn="l">
              <a:lnSpc>
                <a:spcPts val="1500"/>
              </a:lnSpc>
              <a:buFont typeface="+mj-lt"/>
              <a:buAutoNum type="arabicPeriod"/>
            </a:pPr>
            <a:endParaRPr lang="es-CR" sz="1800" b="1" dirty="0">
              <a:solidFill>
                <a:schemeClr val="dk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FFF6-CDB2-5D1D-B36E-AC845E58E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2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90049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4733E-F0C9-455D-CF73-0DCCA527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AA3B5D8-C51E-90A9-8BEE-8C3DAAA1E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741" y="70050"/>
            <a:ext cx="7886700" cy="9941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defPPr>
              <a:defRPr lang="es-C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s-CR" sz="2400" b="1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altLang="es-CR" sz="2400" b="1" dirty="0" err="1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Principios</a:t>
            </a:r>
            <a:r>
              <a:rPr lang="en-US" altLang="es-CR" sz="2400" b="1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altLang="es-CR" sz="2400" b="1" dirty="0" err="1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Trabajo</a:t>
            </a:r>
            <a:r>
              <a:rPr lang="en-US" altLang="es-CR" sz="2400" b="1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Ciencia de </a:t>
            </a:r>
            <a:r>
              <a:rPr lang="en-US" altLang="es-CR" sz="2400" b="1" dirty="0" err="1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</a:t>
            </a:r>
            <a:r>
              <a:rPr lang="en-US" altLang="es-CR" sz="2400" b="1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1084A-DD9B-1FCB-35FB-8FFCE7C17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630FF26-A9ED-B74F-80D1-0846E645FC60}" type="slidenum">
              <a:rPr lang="es-CR" smtClean="0"/>
              <a:pPr>
                <a:spcAft>
                  <a:spcPts val="600"/>
                </a:spcAft>
              </a:pPr>
              <a:t>3</a:t>
            </a:fld>
            <a:endParaRPr lang="es-CR"/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975F2C44-4E49-0366-362C-DB5BA9AA41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5978843"/>
              </p:ext>
            </p:extLst>
          </p:nvPr>
        </p:nvGraphicFramePr>
        <p:xfrm>
          <a:off x="628650" y="1219132"/>
          <a:ext cx="8103226" cy="3238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015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55424-E1CC-EAA5-662E-C0099ED06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2A7527-F64B-D584-3D39-1A17D75679B7}"/>
              </a:ext>
            </a:extLst>
          </p:cNvPr>
          <p:cNvSpPr txBox="1">
            <a:spLocks/>
          </p:cNvSpPr>
          <p:nvPr/>
        </p:nvSpPr>
        <p:spPr>
          <a:xfrm>
            <a:off x="2327851" y="1742539"/>
            <a:ext cx="8520600" cy="560763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</a:pPr>
            <a:r>
              <a:rPr lang="es-CR" sz="2400" b="1" dirty="0">
                <a:solidFill>
                  <a:schemeClr val="accent1">
                    <a:lumMod val="49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2. </a:t>
            </a:r>
            <a:r>
              <a:rPr lang="es-CR" sz="2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Contexto</a:t>
            </a:r>
            <a:r>
              <a:rPr lang="es-CR" sz="2400" b="1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línea base forestal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5FF492-D74E-B454-5709-B03AB06B0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4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511931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B76C9-B849-96BD-74D6-0B4248C45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ADB1F6A-D9D9-9D9A-8DE7-85C6D82FE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334" y="124042"/>
            <a:ext cx="859313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tIns="45720" rIns="45719" bIns="45720" anchor="ctr"/>
          <a:lstStyle>
            <a:defPPr>
              <a:defRPr lang="es-C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s-CR" altLang="es-CR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Flujograma: Mapa </a:t>
            </a:r>
            <a:r>
              <a:rPr lang="es-CR" altLang="es-CR" sz="2400" b="1" dirty="0">
                <a:solidFill>
                  <a:schemeClr val="accent1">
                    <a:lumMod val="49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Línea </a:t>
            </a:r>
            <a:r>
              <a:rPr lang="es-CR" altLang="es-CR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 forestal regional</a:t>
            </a:r>
            <a:r>
              <a:rPr lang="es-CR" altLang="es-CR" sz="2400" b="1" dirty="0">
                <a:solidFill>
                  <a:srgbClr val="FFCC0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375340-97C6-6ADC-EF48-656B6C414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5</a:t>
            </a:fld>
            <a:endParaRPr lang="es-C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EA8D86-27DC-90C2-015C-309AB4E1D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8515"/>
            <a:ext cx="9144000" cy="276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176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C33A1-DA0F-7C5D-8333-C886041C3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274A243-B996-D833-CD1C-D535F5465CE7}"/>
              </a:ext>
            </a:extLst>
          </p:cNvPr>
          <p:cNvSpPr txBox="1">
            <a:spLocks/>
          </p:cNvSpPr>
          <p:nvPr/>
        </p:nvSpPr>
        <p:spPr>
          <a:xfrm>
            <a:off x="2197650" y="1749467"/>
            <a:ext cx="8520600" cy="560763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1500"/>
              </a:lnSpc>
            </a:pPr>
            <a:r>
              <a:rPr lang="es-CR" sz="2400" b="1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Auditoría de la base de datos </a:t>
            </a:r>
            <a:endParaRPr lang="es-ES" sz="2400" dirty="0">
              <a:solidFill>
                <a:schemeClr val="accent1">
                  <a:lumMod val="49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BFB6A3-74B0-7F64-B379-4A040E71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6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42128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064F6-5324-4A30-BD40-5180E2688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AC1AF2A-BAA2-1528-8AB5-749B0B55F257}"/>
              </a:ext>
            </a:extLst>
          </p:cNvPr>
          <p:cNvSpPr txBox="1">
            <a:spLocks/>
          </p:cNvSpPr>
          <p:nvPr/>
        </p:nvSpPr>
        <p:spPr>
          <a:xfrm>
            <a:off x="552450" y="102393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</a:t>
            </a:r>
            <a:r>
              <a:rPr lang="en-US" sz="2400" b="1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entendemos</a:t>
            </a: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auditoria?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F20E08-9C3A-DC96-90A3-92AFF2057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630FF26-A9ED-B74F-80D1-0846E645FC60}" type="slidenum">
              <a:rPr lang="es-CR" smtClean="0"/>
              <a:pPr>
                <a:spcAft>
                  <a:spcPts val="600"/>
                </a:spcAft>
              </a:pPr>
              <a:t>7</a:t>
            </a:fld>
            <a:endParaRPr lang="es-CR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3D782EBB-9928-7E7C-D3A5-132DBEB7A8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8797621"/>
              </p:ext>
            </p:extLst>
          </p:nvPr>
        </p:nvGraphicFramePr>
        <p:xfrm>
          <a:off x="476250" y="891236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4531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0E127-65A4-3832-999A-A80B253C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AEB0FF00-7420-5CBC-A0B2-05091569CC01}"/>
              </a:ext>
            </a:extLst>
          </p:cNvPr>
          <p:cNvSpPr txBox="1"/>
          <p:nvPr/>
        </p:nvSpPr>
        <p:spPr>
          <a:xfrm>
            <a:off x="249070" y="13970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4800"/>
            </a:pPr>
            <a:r>
              <a:rPr lang="en-US" sz="1900" b="1" i="0" u="none" strike="noStrike" cap="none" err="1">
                <a:solidFill>
                  <a:schemeClr val="tx2">
                    <a:lumMod val="90000"/>
                    <a:lumOff val="10000"/>
                  </a:schemeClr>
                </a:solidFill>
                <a:latin typeface="Noto Sans"/>
                <a:ea typeface="Noto Sans"/>
                <a:cs typeface="Noto Sans"/>
              </a:rPr>
              <a:t>Contexto</a:t>
            </a:r>
            <a:r>
              <a:rPr lang="en-US" sz="1900" b="1" i="0" u="none" strike="noStrike" cap="none">
                <a:solidFill>
                  <a:schemeClr val="tx2">
                    <a:lumMod val="90000"/>
                    <a:lumOff val="10000"/>
                  </a:schemeClr>
                </a:solidFill>
                <a:latin typeface="Noto Sans"/>
                <a:ea typeface="Noto Sans"/>
                <a:cs typeface="Noto Sans"/>
              </a:rPr>
              <a:t>: </a:t>
            </a:r>
            <a:r>
              <a:rPr lang="en-US" sz="1900" b="1" i="0" u="none" strike="noStrike" cap="none" err="1">
                <a:solidFill>
                  <a:schemeClr val="tx2">
                    <a:lumMod val="90000"/>
                    <a:lumOff val="10000"/>
                  </a:schemeClr>
                </a:solidFill>
                <a:latin typeface="Noto Sans"/>
                <a:ea typeface="Noto Sans"/>
                <a:cs typeface="Noto Sans"/>
              </a:rPr>
              <a:t>flujo</a:t>
            </a:r>
            <a:r>
              <a:rPr lang="en-US" sz="1900" b="1" i="0" u="none" strike="noStrike" cap="none">
                <a:solidFill>
                  <a:schemeClr val="tx2">
                    <a:lumMod val="90000"/>
                    <a:lumOff val="10000"/>
                  </a:schemeClr>
                </a:solidFill>
                <a:latin typeface="Noto Sans"/>
                <a:ea typeface="Noto Sans"/>
                <a:cs typeface="Noto Sans"/>
              </a:rPr>
              <a:t> de </a:t>
            </a:r>
            <a:r>
              <a:rPr lang="en-US" sz="1900" b="1" i="0" u="none" strike="noStrike" cap="none" err="1">
                <a:solidFill>
                  <a:schemeClr val="tx2">
                    <a:lumMod val="90000"/>
                    <a:lumOff val="10000"/>
                  </a:schemeClr>
                </a:solidFill>
                <a:latin typeface="Noto Sans"/>
                <a:ea typeface="Noto Sans"/>
                <a:cs typeface="Noto Sans"/>
              </a:rPr>
              <a:t>trabajo</a:t>
            </a:r>
            <a:endParaRPr lang="en-US" sz="1900" b="1" i="0" u="none" strike="noStrike" cap="none">
              <a:solidFill>
                <a:schemeClr val="tx2">
                  <a:lumMod val="90000"/>
                  <a:lumOff val="10000"/>
                </a:schemeClr>
              </a:solidFill>
              <a:latin typeface="Noto Sans"/>
              <a:ea typeface="Noto Sans"/>
              <a:cs typeface="Noto Sans"/>
            </a:endParaRP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EC3FF0D4-8E41-C6A0-9C74-303811DCA1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1883422"/>
              </p:ext>
            </p:extLst>
          </p:nvPr>
        </p:nvGraphicFramePr>
        <p:xfrm>
          <a:off x="249070" y="712403"/>
          <a:ext cx="8585557" cy="23695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C6F08D40-89B7-735A-3F1D-14930479CE99}"/>
              </a:ext>
            </a:extLst>
          </p:cNvPr>
          <p:cNvSpPr/>
          <p:nvPr/>
        </p:nvSpPr>
        <p:spPr>
          <a:xfrm>
            <a:off x="266401" y="3263462"/>
            <a:ext cx="8568225" cy="1316421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400">
                <a:solidFill>
                  <a:srgbClr val="222222"/>
                </a:solidFill>
                <a:latin typeface="Arial"/>
              </a:defRPr>
            </a:pPr>
            <a:endParaRPr lang="es-419" dirty="0"/>
          </a:p>
          <a:p>
            <a:pPr algn="ctr">
              <a:defRPr sz="1400">
                <a:solidFill>
                  <a:srgbClr val="222222"/>
                </a:solidFill>
                <a:latin typeface="Arial"/>
              </a:defRPr>
            </a:pPr>
            <a:endParaRPr lang="es-CR" dirty="0"/>
          </a:p>
          <a:p>
            <a:pPr algn="ctr">
              <a:defRPr sz="1400">
                <a:solidFill>
                  <a:srgbClr val="222222"/>
                </a:solidFill>
                <a:latin typeface="Arial"/>
              </a:defRPr>
            </a:pPr>
            <a:r>
              <a:rPr lang="es-CR" b="1" dirty="0">
                <a:solidFill>
                  <a:schemeClr val="bg1"/>
                </a:solidFill>
                <a:latin typeface="Arial"/>
              </a:rPr>
              <a:t>Objetivo: pasar de registros heredados a una base depurada, normalizada y apta para análisis</a:t>
            </a:r>
          </a:p>
          <a:p>
            <a:pPr algn="ctr">
              <a:defRPr sz="1400">
                <a:solidFill>
                  <a:srgbClr val="222222"/>
                </a:solidFill>
                <a:latin typeface="Arial"/>
              </a:defRPr>
            </a:pPr>
            <a:endParaRPr lang="es-CR" dirty="0"/>
          </a:p>
          <a:p>
            <a:pPr algn="ctr">
              <a:defRPr sz="1400">
                <a:solidFill>
                  <a:srgbClr val="222222"/>
                </a:solidFill>
                <a:latin typeface="Arial"/>
              </a:defRPr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86808F-01BC-513A-C659-E72984BDD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8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57699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CC39B-747A-51C9-771A-8201E756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98F8FAF4-EBBC-14EE-DC9E-38944B0E3106}"/>
              </a:ext>
            </a:extLst>
          </p:cNvPr>
          <p:cNvSpPr txBox="1"/>
          <p:nvPr/>
        </p:nvSpPr>
        <p:spPr>
          <a:xfrm>
            <a:off x="249070" y="13970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4800"/>
            </a:pPr>
            <a:r>
              <a:rPr lang="es-CR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Marco metodológico utilizado para estructurar la auditoría</a:t>
            </a:r>
            <a:endParaRPr lang="en-US" sz="2400" b="1" i="0" u="none" strike="noStrike" cap="none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ubtitle"/>
          <p:cNvSpPr txBox="1"/>
          <p:nvPr/>
        </p:nvSpPr>
        <p:spPr>
          <a:xfrm>
            <a:off x="266401" y="650000"/>
            <a:ext cx="8568225" cy="37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normAutofit/>
          </a:bodyPr>
          <a:lstStyle/>
          <a:p>
            <a:r>
              <a:rPr lang="es-CR" sz="1100" i="1">
                <a:solidFill>
                  <a:srgbClr val="222222"/>
                </a:solidFill>
              </a:rPr>
              <a:t>Metodología CRISP-DM: marco de referencia para las fases y tareas del proceso de datos</a:t>
            </a:r>
            <a:endParaRPr lang="en-US" sz="1100" b="0" i="1">
              <a:solidFill>
                <a:srgbClr val="222222"/>
              </a:solidFill>
              <a:latin typeface="Arial"/>
              <a:cs typeface="Arial"/>
            </a:endParaRPr>
          </a:p>
        </p:txBody>
      </p:sp>
      <p:sp>
        <p:nvSpPr>
          <p:cNvPr id="101" name="Fase 1"/>
          <p:cNvSpPr/>
          <p:nvPr/>
        </p:nvSpPr>
        <p:spPr>
          <a:xfrm>
            <a:off x="266401" y="1480000"/>
            <a:ext cx="1353037" cy="2650000"/>
          </a:xfrm>
          <a:prstGeom prst="roundRect">
            <a:avLst>
              <a:gd name="adj" fmla="val 6000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lIns="82550" tIns="73025" rIns="64008" bIns="45720" anchor="ctr">
            <a:normAutofit/>
          </a:bodyPr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chemeClr val="tx2">
                    <a:lumMod val="75000"/>
                  </a:schemeClr>
                </a:solidFill>
                <a:latin typeface="Noto Sans"/>
                <a:cs typeface="Noto Sans"/>
              </a:rPr>
              <a:t>1. Business Understanding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Business objectives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Situation assessment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Data mining goals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Project plan</a:t>
            </a:r>
          </a:p>
        </p:txBody>
      </p:sp>
      <p:sp>
        <p:nvSpPr>
          <p:cNvPr id="102" name="Fase 2"/>
          <p:cNvSpPr/>
          <p:nvPr/>
        </p:nvSpPr>
        <p:spPr>
          <a:xfrm>
            <a:off x="1709438" y="1480000"/>
            <a:ext cx="1353037" cy="2650000"/>
          </a:xfrm>
          <a:prstGeom prst="roundRect">
            <a:avLst>
              <a:gd name="adj" fmla="val 6000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lIns="82550" tIns="73025" rIns="64008" bIns="45720" anchor="ctr">
            <a:normAutofit/>
          </a:bodyPr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chemeClr val="tx2">
                    <a:lumMod val="75000"/>
                  </a:schemeClr>
                </a:solidFill>
                <a:latin typeface="Noto Sans"/>
                <a:cs typeface="Noto Sans"/>
              </a:rPr>
              <a:t>2. Data Understanding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Initial data collection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Data description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Data exploration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Data quality verification</a:t>
            </a:r>
          </a:p>
        </p:txBody>
      </p:sp>
      <p:sp>
        <p:nvSpPr>
          <p:cNvPr id="103" name="Fase 3"/>
          <p:cNvSpPr/>
          <p:nvPr/>
        </p:nvSpPr>
        <p:spPr>
          <a:xfrm>
            <a:off x="3152475" y="1480000"/>
            <a:ext cx="1353037" cy="2650000"/>
          </a:xfrm>
          <a:prstGeom prst="roundRect">
            <a:avLst>
              <a:gd name="adj" fmla="val 6000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lIns="82550" tIns="73025" rIns="64008" bIns="45720" anchor="ctr">
            <a:normAutofit/>
          </a:bodyPr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chemeClr val="tx2">
                    <a:lumMod val="75000"/>
                  </a:schemeClr>
                </a:solidFill>
                <a:latin typeface="Noto Sans"/>
                <a:cs typeface="Noto Sans"/>
              </a:rPr>
              <a:t>3. Data Preparation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Data selection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Data cleaning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Data construction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Data integration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Data formatting</a:t>
            </a:r>
          </a:p>
        </p:txBody>
      </p:sp>
      <p:sp>
        <p:nvSpPr>
          <p:cNvPr id="104" name="Fase 4"/>
          <p:cNvSpPr/>
          <p:nvPr/>
        </p:nvSpPr>
        <p:spPr>
          <a:xfrm>
            <a:off x="4595512" y="1480000"/>
            <a:ext cx="1353037" cy="2650000"/>
          </a:xfrm>
          <a:prstGeom prst="roundRect">
            <a:avLst>
              <a:gd name="adj" fmla="val 6000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lIns="82550" tIns="73025" rIns="64008" bIns="45720" anchor="ctr">
            <a:normAutofit/>
          </a:bodyPr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chemeClr val="tx2">
                    <a:lumMod val="75000"/>
                  </a:schemeClr>
                </a:solidFill>
                <a:latin typeface="Noto Sans"/>
                <a:cs typeface="Noto Sans"/>
              </a:rPr>
              <a:t>4. Modeling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Modeling technique selection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Test design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Model building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Model assessment</a:t>
            </a:r>
          </a:p>
        </p:txBody>
      </p:sp>
      <p:sp>
        <p:nvSpPr>
          <p:cNvPr id="105" name="Fase 5"/>
          <p:cNvSpPr/>
          <p:nvPr/>
        </p:nvSpPr>
        <p:spPr>
          <a:xfrm>
            <a:off x="6038549" y="1480000"/>
            <a:ext cx="1353037" cy="2650000"/>
          </a:xfrm>
          <a:prstGeom prst="roundRect">
            <a:avLst>
              <a:gd name="adj" fmla="val 6000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lIns="82550" tIns="73025" rIns="64008" bIns="45720" anchor="ctr">
            <a:normAutofit/>
          </a:bodyPr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chemeClr val="tx2">
                    <a:lumMod val="75000"/>
                  </a:schemeClr>
                </a:solidFill>
                <a:latin typeface="Noto Sans"/>
                <a:cs typeface="Noto Sans"/>
              </a:rPr>
              <a:t>5. Evaluation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Results evaluation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Process review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Next steps determination</a:t>
            </a:r>
          </a:p>
        </p:txBody>
      </p:sp>
      <p:sp>
        <p:nvSpPr>
          <p:cNvPr id="106" name="Fase 6"/>
          <p:cNvSpPr/>
          <p:nvPr/>
        </p:nvSpPr>
        <p:spPr>
          <a:xfrm>
            <a:off x="7481586" y="1480000"/>
            <a:ext cx="1353037" cy="2650000"/>
          </a:xfrm>
          <a:prstGeom prst="roundRect">
            <a:avLst>
              <a:gd name="adj" fmla="val 6000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lIns="82550" tIns="73025" rIns="64008" bIns="45720" anchor="ctr">
            <a:normAutofit/>
          </a:bodyPr>
          <a:lstStyle/>
          <a:p>
            <a:pPr algn="l">
              <a:spcAft>
                <a:spcPts val="500"/>
              </a:spcAft>
            </a:pPr>
            <a:r>
              <a:rPr lang="en-US" sz="1000" b="1">
                <a:solidFill>
                  <a:schemeClr val="tx2">
                    <a:lumMod val="75000"/>
                  </a:schemeClr>
                </a:solidFill>
                <a:latin typeface="Noto Sans"/>
                <a:cs typeface="Noto Sans"/>
              </a:rPr>
              <a:t>6. Deployment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Deployment plan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Monitoring &amp; maintenance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Final report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6401" y="4590000"/>
            <a:ext cx="4572000" cy="156675"/>
          </a:xfrm>
          <a:prstGeom prst="rect">
            <a:avLst/>
          </a:prstGeom>
          <a:noFill/>
        </p:spPr>
        <p:txBody>
          <a:bodyPr wrap="square" lIns="36000" tIns="9000" rIns="36000" bIns="9000">
            <a:spAutoFit/>
          </a:bodyPr>
          <a:lstStyle/>
          <a:p>
            <a:r>
              <a:rPr lang="en-US" sz="900" i="1">
                <a:solidFill>
                  <a:schemeClr val="tx2">
                    <a:lumMod val="60000"/>
                    <a:lumOff val="40000"/>
                  </a:schemeClr>
                </a:solidFill>
              </a:rPr>
              <a:t>Fuente</a:t>
            </a:r>
            <a:r>
              <a:rPr lang="en-US" sz="900" i="1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: Pete Chapman et al. (1999), CRISP-DM 1.0.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9599FB-0AC8-8382-FAAA-2663AF68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9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35804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12695-4283-49F9-F4A7-5CFAE2C20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F372F3-7EA8-519E-C1BA-E34994A9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10</a:t>
            </a:fld>
            <a:endParaRPr lang="es-C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4FBD65-FF6A-0676-C47B-120C214451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92" r="-1"/>
          <a:stretch>
            <a:fillRect/>
          </a:stretch>
        </p:blipFill>
        <p:spPr>
          <a:xfrm>
            <a:off x="24245" y="827592"/>
            <a:ext cx="9095509" cy="34883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7AB732-CFA8-D1EB-8084-DD8EE14EB166}"/>
              </a:ext>
            </a:extLst>
          </p:cNvPr>
          <p:cNvSpPr txBox="1"/>
          <p:nvPr/>
        </p:nvSpPr>
        <p:spPr>
          <a:xfrm>
            <a:off x="429491" y="163871"/>
            <a:ext cx="45720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4800"/>
            </a:pPr>
            <a:r>
              <a:rPr lang="es-CR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 de auditorias</a:t>
            </a:r>
            <a:endParaRPr lang="en-US" sz="2400" b="1" i="0" u="none" strike="noStrike" cap="none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587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C3C30-33E8-D650-DD88-91B065DFE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05D9502-E407-16F5-9AA9-FD2DE237F939}"/>
              </a:ext>
            </a:extLst>
          </p:cNvPr>
          <p:cNvSpPr txBox="1"/>
          <p:nvPr/>
        </p:nvSpPr>
        <p:spPr>
          <a:xfrm>
            <a:off x="381000" y="147205"/>
            <a:ext cx="4572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R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Hallazgos principales</a:t>
            </a:r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s-ES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A422023F-EFDB-97A5-4AA9-5CA1970AA195}"/>
              </a:ext>
            </a:extLst>
          </p:cNvPr>
          <p:cNvSpPr txBox="1"/>
          <p:nvPr/>
        </p:nvSpPr>
        <p:spPr>
          <a:xfrm>
            <a:off x="382457" y="689832"/>
            <a:ext cx="8520600" cy="3051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indent="-342900">
              <a:lnSpc>
                <a:spcPct val="115000"/>
              </a:lnSpc>
              <a:spcAft>
                <a:spcPts val="600"/>
              </a:spcAft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  <a:defRPr sz="1900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Duplicidad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espacial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múltiples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registros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pueden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corresponder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a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una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misma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ubicación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XY.</a:t>
            </a:r>
            <a:endParaRPr lang="en-US" sz="1800" b="0" i="0" u="none" strike="noStrike" cap="none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>
              <a:lnSpc>
                <a:spcPct val="114999"/>
              </a:lnSpc>
              <a:spcAft>
                <a:spcPts val="600"/>
              </a:spcAft>
              <a:buSzPts val="1800"/>
              <a:defRPr sz="1900">
                <a:solidFill>
                  <a:srgbClr val="000000"/>
                </a:solidFill>
                <a:latin typeface="Arial"/>
              </a:defRPr>
            </a:pPr>
            <a:endParaRPr lang="en-US" sz="18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lnSpc>
                <a:spcPct val="115000"/>
              </a:lnSpc>
              <a:spcAft>
                <a:spcPts val="600"/>
              </a:spcAft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  <a:defRPr sz="1900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Conflictos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temáticos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 un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mismo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XY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puede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tener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más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de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una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clase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asociada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lang="en-US" sz="1800" b="0" i="0" u="none" strike="noStrike" cap="none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>
              <a:lnSpc>
                <a:spcPct val="114999"/>
              </a:lnSpc>
              <a:spcAft>
                <a:spcPts val="600"/>
              </a:spcAft>
              <a:buClr>
                <a:schemeClr val="dk2"/>
              </a:buClr>
              <a:buSzPts val="1800"/>
              <a:defRPr sz="1900">
                <a:solidFill>
                  <a:srgbClr val="000000"/>
                </a:solidFill>
                <a:latin typeface="Arial"/>
              </a:defRPr>
            </a:pPr>
            <a:endParaRPr lang="en-US" sz="18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lnSpc>
                <a:spcPct val="115000"/>
              </a:lnSpc>
              <a:spcAft>
                <a:spcPts val="600"/>
              </a:spcAft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  <a:defRPr sz="1900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Clases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con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pocos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puntos: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existen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categorías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con baja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representatividad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para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entrenamiento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o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validación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lang="en-US" sz="1800" b="0" i="0" u="none" strike="noStrike" cap="none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>
              <a:lnSpc>
                <a:spcPct val="114999"/>
              </a:lnSpc>
              <a:spcAft>
                <a:spcPts val="600"/>
              </a:spcAft>
              <a:buClr>
                <a:schemeClr val="dk2"/>
              </a:buClr>
              <a:buSzPts val="1800"/>
              <a:defRPr sz="1900">
                <a:solidFill>
                  <a:srgbClr val="000000"/>
                </a:solidFill>
                <a:latin typeface="Arial"/>
              </a:defRPr>
            </a:pPr>
            <a:endParaRPr lang="en-US" sz="18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lnSpc>
                <a:spcPct val="115000"/>
              </a:lnSpc>
              <a:spcAft>
                <a:spcPts val="600"/>
              </a:spcAft>
              <a:buClr>
                <a:schemeClr val="dk2"/>
              </a:buClr>
              <a:buSzPts val="1800"/>
              <a:buFont typeface="Arial" panose="020B0604020202020204" pitchFamily="34" charset="0"/>
              <a:buChar char="•"/>
              <a:defRPr sz="1900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Países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desbalanceados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 la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disponibilidad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de puntos no es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homogénea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entre </a:t>
            </a:r>
            <a:r>
              <a:rPr lang="en-US" sz="1800" b="0" i="0" u="none" strike="noStrike" cap="none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países</a:t>
            </a:r>
            <a:r>
              <a:rPr lang="en-US" sz="1800" b="0" i="0" u="none" strike="noStrike" cap="none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lang="en-US" sz="1800" b="0" i="0" u="none" strike="noStrike" cap="none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364CA718-14C1-B0A9-2A68-A666B65B6E2B}"/>
              </a:ext>
            </a:extLst>
          </p:cNvPr>
          <p:cNvSpPr/>
          <p:nvPr/>
        </p:nvSpPr>
        <p:spPr>
          <a:xfrm>
            <a:off x="523603" y="3842136"/>
            <a:ext cx="7955279" cy="68580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400">
                <a:solidFill>
                  <a:srgbClr val="222222"/>
                </a:solidFill>
                <a:latin typeface="Arial"/>
              </a:defRPr>
            </a:pPr>
            <a:r>
              <a:rPr b="1" dirty="0" err="1">
                <a:solidFill>
                  <a:schemeClr val="bg1"/>
                </a:solidFill>
              </a:rPr>
              <a:t>Implicación</a:t>
            </a:r>
            <a:r>
              <a:rPr b="1" dirty="0">
                <a:solidFill>
                  <a:schemeClr val="bg1"/>
                </a:solidFill>
              </a:rPr>
              <a:t>: antes del </a:t>
            </a:r>
            <a:r>
              <a:rPr b="1" dirty="0" err="1">
                <a:solidFill>
                  <a:schemeClr val="bg1"/>
                </a:solidFill>
              </a:rPr>
              <a:t>mapeo</a:t>
            </a:r>
            <a:r>
              <a:rPr b="1" dirty="0">
                <a:solidFill>
                  <a:schemeClr val="bg1"/>
                </a:solidFill>
              </a:rPr>
              <a:t> se </a:t>
            </a:r>
            <a:r>
              <a:rPr b="1" dirty="0" err="1">
                <a:solidFill>
                  <a:schemeClr val="bg1"/>
                </a:solidFill>
              </a:rPr>
              <a:t>requiere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depurar</a:t>
            </a:r>
            <a:r>
              <a:rPr b="1" dirty="0">
                <a:solidFill>
                  <a:schemeClr val="bg1"/>
                </a:solidFill>
              </a:rPr>
              <a:t> </a:t>
            </a:r>
            <a:r>
              <a:rPr b="1" dirty="0" err="1">
                <a:solidFill>
                  <a:schemeClr val="bg1"/>
                </a:solidFill>
              </a:rPr>
              <a:t>por</a:t>
            </a:r>
            <a:r>
              <a:rPr b="1" dirty="0">
                <a:solidFill>
                  <a:schemeClr val="bg1"/>
                </a:solidFill>
              </a:rPr>
              <a:t> XY, </a:t>
            </a:r>
            <a:r>
              <a:rPr b="1" dirty="0" err="1">
                <a:solidFill>
                  <a:schemeClr val="bg1"/>
                </a:solidFill>
              </a:rPr>
              <a:t>país</a:t>
            </a:r>
            <a:r>
              <a:rPr b="1" dirty="0">
                <a:solidFill>
                  <a:schemeClr val="bg1"/>
                </a:solidFill>
              </a:rPr>
              <a:t>, </a:t>
            </a:r>
            <a:r>
              <a:rPr b="1" dirty="0" err="1">
                <a:solidFill>
                  <a:schemeClr val="bg1"/>
                </a:solidFill>
              </a:rPr>
              <a:t>clase</a:t>
            </a:r>
            <a:r>
              <a:rPr b="1" dirty="0">
                <a:solidFill>
                  <a:schemeClr val="bg1"/>
                </a:solidFill>
              </a:rPr>
              <a:t> y </a:t>
            </a:r>
            <a:r>
              <a:rPr b="1" dirty="0" err="1">
                <a:solidFill>
                  <a:schemeClr val="bg1"/>
                </a:solidFill>
              </a:rPr>
              <a:t>fuente</a:t>
            </a:r>
            <a:r>
              <a:rPr b="1" dirty="0">
                <a:solidFill>
                  <a:schemeClr val="bg1"/>
                </a:solidFill>
              </a:rPr>
              <a:t>, y </a:t>
            </a:r>
            <a:r>
              <a:rPr b="1" dirty="0" err="1">
                <a:solidFill>
                  <a:schemeClr val="bg1"/>
                </a:solidFill>
              </a:rPr>
              <a:t>documentar</a:t>
            </a:r>
            <a:r>
              <a:rPr b="1" dirty="0">
                <a:solidFill>
                  <a:schemeClr val="bg1"/>
                </a:solidFill>
              </a:rPr>
              <a:t> las </a:t>
            </a:r>
            <a:r>
              <a:rPr b="1" dirty="0" err="1">
                <a:solidFill>
                  <a:schemeClr val="bg1"/>
                </a:solidFill>
              </a:rPr>
              <a:t>decisiones</a:t>
            </a:r>
            <a:r>
              <a:rPr b="1" dirty="0">
                <a:solidFill>
                  <a:schemeClr val="bg1"/>
                </a:solidFill>
              </a:rPr>
              <a:t> de </a:t>
            </a:r>
            <a:r>
              <a:rPr b="1" dirty="0" err="1">
                <a:solidFill>
                  <a:schemeClr val="bg1"/>
                </a:solidFill>
              </a:rPr>
              <a:t>exclusión</a:t>
            </a:r>
            <a:r>
              <a:rPr b="1" dirty="0">
                <a:solidFill>
                  <a:schemeClr val="bg1"/>
                </a:solidFill>
              </a:rPr>
              <a:t> o </a:t>
            </a:r>
            <a:r>
              <a:rPr b="1" dirty="0" err="1">
                <a:solidFill>
                  <a:schemeClr val="bg1"/>
                </a:solidFill>
              </a:rPr>
              <a:t>reclasificación</a:t>
            </a:r>
            <a:r>
              <a:rPr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00D401-8D1A-AF9F-712D-E3410E97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11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82660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7D2EF-DFF5-43A2-A4B3-2D529B90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52044B7-D8EF-117E-2E12-BE8E92C7373A}"/>
              </a:ext>
            </a:extLst>
          </p:cNvPr>
          <p:cNvSpPr txBox="1"/>
          <p:nvPr/>
        </p:nvSpPr>
        <p:spPr>
          <a:xfrm>
            <a:off x="190995" y="1587655"/>
            <a:ext cx="45720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R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Densidad de</a:t>
            </a:r>
          </a:p>
          <a:p>
            <a:r>
              <a:rPr lang="es-CR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registros</a:t>
            </a:r>
          </a:p>
          <a:p>
            <a:pPr algn="ctr"/>
            <a:endParaRPr lang="es-ES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91A5A1AE-1C17-B958-9495-CFF5C0BD8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522" y="0"/>
            <a:ext cx="6665721" cy="46917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7B20FE-9E9A-0315-2EF8-690623631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12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48642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42FC5-0102-D8C8-59B5-C13422F63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E731FEC-EE6F-D771-B55B-1D7F1A51CFDE}"/>
              </a:ext>
            </a:extLst>
          </p:cNvPr>
          <p:cNvSpPr txBox="1"/>
          <p:nvPr/>
        </p:nvSpPr>
        <p:spPr>
          <a:xfrm>
            <a:off x="80159" y="1825373"/>
            <a:ext cx="2171205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R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Dominancia de</a:t>
            </a:r>
          </a:p>
          <a:p>
            <a:pPr algn="ctr"/>
            <a:r>
              <a:rPr lang="es-CR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clases</a:t>
            </a:r>
          </a:p>
          <a:p>
            <a:pPr algn="ctr"/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1" descr="Mapa&#10;&#10;El contenido generado por IA puede ser incorrecto.">
            <a:extLst>
              <a:ext uri="{FF2B5EF4-FFF2-40B4-BE49-F238E27FC236}">
                <a16:creationId xmlns:a16="http://schemas.microsoft.com/office/drawing/2014/main" id="{A7EFF521-9603-2A97-D319-4FC4569C4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889" y="0"/>
            <a:ext cx="6687492" cy="469718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20A7FB-214E-203A-7E4B-AFF7919F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13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609017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AFEB4-3D90-B462-14A6-CB3C74582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2A2272-5D7F-A67B-DFC3-D691AC72DE9C}"/>
              </a:ext>
            </a:extLst>
          </p:cNvPr>
          <p:cNvSpPr txBox="1">
            <a:spLocks/>
          </p:cNvSpPr>
          <p:nvPr/>
        </p:nvSpPr>
        <p:spPr>
          <a:xfrm>
            <a:off x="311700" y="1884937"/>
            <a:ext cx="8520600" cy="601667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s-CR" sz="3100" b="1" dirty="0">
                <a:solidFill>
                  <a:schemeClr val="accent1">
                    <a:lumMod val="49000"/>
                  </a:schemeClr>
                </a:solidFill>
              </a:rPr>
              <a:t>
</a:t>
            </a:r>
            <a:r>
              <a:rPr lang="es-CR" sz="2400" b="1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4. Armonización temática (clases semánticas y homologación)</a:t>
            </a:r>
            <a:endParaRPr lang="es-ES" sz="2400" dirty="0">
              <a:solidFill>
                <a:schemeClr val="accent1">
                  <a:lumMod val="49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0A6629-D08F-A8A6-1C54-095A31C1B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14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407011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C7B24-20CE-C47E-4743-64B23F3DD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4C3CD8E-9D8F-0BA5-7900-F0A52B009A2E}"/>
              </a:ext>
            </a:extLst>
          </p:cNvPr>
          <p:cNvSpPr txBox="1"/>
          <p:nvPr/>
        </p:nvSpPr>
        <p:spPr>
          <a:xfrm>
            <a:off x="325086" y="163642"/>
            <a:ext cx="5279571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R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Definición de clases semánticas</a:t>
            </a:r>
          </a:p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A879A82-3F3C-6E11-ECF3-98DDAF2CA430}"/>
              </a:ext>
            </a:extLst>
          </p:cNvPr>
          <p:cNvSpPr txBox="1"/>
          <p:nvPr/>
        </p:nvSpPr>
        <p:spPr>
          <a:xfrm>
            <a:off x="373577" y="588818"/>
            <a:ext cx="8819159" cy="29536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14300">
              <a:lnSpc>
                <a:spcPct val="114999"/>
              </a:lnSpc>
              <a:spcAft>
                <a:spcPts val="600"/>
              </a:spcAft>
            </a:pPr>
            <a:endParaRPr lang="en-US" sz="1500" dirty="0">
              <a:solidFill>
                <a:schemeClr val="tx1"/>
              </a:solidFill>
            </a:endParaRPr>
          </a:p>
          <a:p>
            <a:pPr marL="400050" indent="-285750">
              <a:lnSpc>
                <a:spcPct val="114999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Propuesta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llave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clasificación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discutida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partes 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interesadas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técnicas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(GIZ-UVG-UNA).</a:t>
            </a:r>
          </a:p>
          <a:p>
            <a:pPr marL="114300">
              <a:lnSpc>
                <a:spcPct val="114999"/>
              </a:lnSpc>
              <a:spcAft>
                <a:spcPts val="600"/>
              </a:spcAft>
            </a:pPr>
            <a:endParaRPr lang="en-US" sz="18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lnSpc>
                <a:spcPct val="114999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 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clasificación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debe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equilibrar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leyenda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ideal con 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leyenda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factible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para el 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mapeo</a:t>
            </a:r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8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forestal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571500" lvl="1">
              <a:lnSpc>
                <a:spcPct val="114999"/>
              </a:lnSpc>
              <a:spcAft>
                <a:spcPts val="600"/>
              </a:spcAft>
            </a:pP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- Llave 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armonizada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y 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equivalencias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entre 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clases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actuales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y 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clases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propuestas</a:t>
            </a:r>
            <a:endParaRPr lang="en-US" sz="1800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>
              <a:lnSpc>
                <a:spcPct val="114999"/>
              </a:lnSpc>
              <a:spcAft>
                <a:spcPts val="600"/>
              </a:spcAft>
            </a:pP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   - Unidad 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Mínima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de 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Mapeo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 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referencia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FAO de 0,5 ha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B6D9C9AA-508A-2D56-0B9D-B36A100AA330}"/>
              </a:ext>
            </a:extLst>
          </p:cNvPr>
          <p:cNvSpPr/>
          <p:nvPr/>
        </p:nvSpPr>
        <p:spPr>
          <a:xfrm>
            <a:off x="1005840" y="3841309"/>
            <a:ext cx="7132320" cy="50292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300">
                <a:solidFill>
                  <a:srgbClr val="222222"/>
                </a:solidFill>
                <a:latin typeface="Arial"/>
              </a:defRPr>
            </a:pPr>
            <a:r>
              <a:rPr lang="es-CR">
                <a:solidFill>
                  <a:schemeClr val="bg1"/>
                </a:solidFill>
              </a:rPr>
              <a:t>Estas decisiones tienen implicaciones directas sobre la aptitud de los puntos y la leyenda final del producto de clasificación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A44B0E-0FF7-0830-639E-2536EA58B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15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025020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D17F4-A5AD-94ED-EC80-C72E84334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E4186D9-67F0-FB21-CF79-BF87E995014E}"/>
              </a:ext>
            </a:extLst>
          </p:cNvPr>
          <p:cNvSpPr txBox="1"/>
          <p:nvPr/>
        </p:nvSpPr>
        <p:spPr>
          <a:xfrm>
            <a:off x="103415" y="248"/>
            <a:ext cx="5279571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R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Definición de clases semánticas</a:t>
            </a:r>
          </a:p>
          <a:p>
            <a:pPr algn="ctr"/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B6B8F8E-1E5C-9D47-AD63-EDAFE1032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279" y="485821"/>
            <a:ext cx="3430039" cy="428505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B77EE3B-43BC-EA08-1EF8-29FAEEA0C62C}"/>
              </a:ext>
            </a:extLst>
          </p:cNvPr>
          <p:cNvSpPr txBox="1"/>
          <p:nvPr/>
        </p:nvSpPr>
        <p:spPr>
          <a:xfrm>
            <a:off x="5464628" y="1684564"/>
            <a:ext cx="3679371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Dos </a:t>
            </a:r>
            <a:r>
              <a:rPr lang="es-CR" sz="1800" b="1" noProof="0" dirty="0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niveles</a:t>
            </a:r>
            <a:r>
              <a:rPr lang="en-US" sz="1800" b="1" dirty="0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800" b="1" dirty="0" err="1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clasificación</a:t>
            </a:r>
            <a:r>
              <a:rPr lang="en-US" sz="1800" b="1" dirty="0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s-E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b="1" dirty="0">
              <a:solidFill>
                <a:srgbClr val="163E6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 err="1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Factibles</a:t>
            </a:r>
            <a:r>
              <a:rPr lang="en-US" sz="1800" b="1" dirty="0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desde</a:t>
            </a:r>
            <a:r>
              <a:rPr lang="en-US" sz="1800" b="1" dirty="0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1800" b="1" dirty="0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</a:t>
            </a:r>
            <a:r>
              <a:rPr lang="en-US" sz="1800" b="1" dirty="0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disponibles</a:t>
            </a:r>
            <a:r>
              <a:rPr lang="en-US" sz="1800" b="1" dirty="0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a </a:t>
            </a:r>
            <a:r>
              <a:rPr lang="en-US" sz="1800" b="1" dirty="0" err="1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conseguir</a:t>
            </a:r>
            <a:r>
              <a:rPr lang="en-US" sz="1800" b="1" dirty="0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y </a:t>
            </a:r>
            <a:r>
              <a:rPr lang="en-US" sz="1800" b="1" dirty="0" err="1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desde</a:t>
            </a:r>
            <a:r>
              <a:rPr lang="en-US" sz="1800" b="1" dirty="0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1800" b="1" dirty="0" err="1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separatibilidad</a:t>
            </a:r>
            <a:r>
              <a:rPr lang="en-US" sz="1800" b="1" dirty="0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163E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espectral</a:t>
            </a:r>
            <a:endParaRPr lang="en-US" sz="1800" b="1" dirty="0">
              <a:solidFill>
                <a:srgbClr val="163E6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4ACAA-38BD-C877-1C03-B6D6BFDE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16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83004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328CD-F331-0A88-AE27-675DF175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85382CE-03F1-A421-17ED-75CCDD70BA13}"/>
              </a:ext>
            </a:extLst>
          </p:cNvPr>
          <p:cNvSpPr txBox="1">
            <a:spLocks/>
          </p:cNvSpPr>
          <p:nvPr/>
        </p:nvSpPr>
        <p:spPr>
          <a:xfrm>
            <a:off x="1058181" y="1662876"/>
            <a:ext cx="8520600" cy="99619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</a:pPr>
            <a:r>
              <a:rPr lang="es-CR" sz="2400" b="1" dirty="0">
                <a:solidFill>
                  <a:schemeClr val="accent1">
                    <a:lumMod val="49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5. </a:t>
            </a:r>
            <a:r>
              <a:rPr lang="es-CR" sz="2400" b="1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Normalización y disponibilidad de datos</a:t>
            </a:r>
          </a:p>
          <a:p>
            <a:pPr>
              <a:buClrTx/>
              <a:buFontTx/>
            </a:pPr>
            <a:endParaRPr lang="es-ES" sz="2600" dirty="0">
              <a:solidFill>
                <a:schemeClr val="accent1">
                  <a:lumMod val="49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C33EA7-798F-0ED7-82B0-56017F4D2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17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02210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D9A7A-1824-4937-5E2E-50FF8474C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E09A9-99E2-0635-FC99-C8857D231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858" y="1242865"/>
            <a:ext cx="7886700" cy="1621709"/>
          </a:xfrm>
        </p:spPr>
        <p:txBody>
          <a:bodyPr>
            <a:normAutofit/>
          </a:bodyPr>
          <a:lstStyle/>
          <a:p>
            <a:pPr lvl="0"/>
            <a:r>
              <a:rPr lang="es-CR" sz="1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Integrar los registros en una estructura común y relacionada</a:t>
            </a:r>
          </a:p>
          <a:p>
            <a:pPr lvl="0"/>
            <a:r>
              <a:rPr lang="es-CR" sz="1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Homologar clases, formatos e identificadores sin perder los datos originales</a:t>
            </a:r>
          </a:p>
          <a:p>
            <a:pPr lvl="0"/>
            <a:r>
              <a:rPr lang="es-CR" sz="1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Vincular cada punto con su ubicación, fuente y clasificación</a:t>
            </a:r>
          </a:p>
          <a:p>
            <a:pPr lvl="0"/>
            <a:r>
              <a:rPr lang="es-CR" sz="1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Facilitar consultas, auditorías, actualizaciones y modelado</a:t>
            </a:r>
          </a:p>
          <a:p>
            <a:pPr lvl="0"/>
            <a:endParaRPr lang="es-CR" sz="18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lvl="0" indent="0">
              <a:buNone/>
            </a:pPr>
            <a:endParaRPr lang="es-CR" sz="18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endParaRPr lang="es-C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82028E18-077F-A098-75AC-5518612E6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630FF26-A9ED-B74F-80D1-0846E645FC60}" type="slidenum">
              <a:rPr lang="es-CR" smtClean="0"/>
              <a:pPr>
                <a:spcAft>
                  <a:spcPts val="600"/>
                </a:spcAft>
              </a:pPr>
              <a:t>18</a:t>
            </a:fld>
            <a:endParaRPr lang="es-CR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5CEF296-5021-4039-A942-3EFBA4170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626" y="159034"/>
            <a:ext cx="7886700" cy="993775"/>
          </a:xfrm>
        </p:spPr>
        <p:txBody>
          <a:bodyPr>
            <a:normAutofit/>
          </a:bodyPr>
          <a:lstStyle/>
          <a:p>
            <a:r>
              <a:rPr lang="en-US" sz="2400" b="1" dirty="0" err="1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Qué</a:t>
            </a:r>
            <a:r>
              <a:rPr lang="en-US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2400" b="1" dirty="0" err="1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implica</a:t>
            </a:r>
            <a:r>
              <a:rPr lang="en-US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la </a:t>
            </a:r>
            <a:r>
              <a:rPr lang="en-US" sz="2400" b="1" dirty="0" err="1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normalización</a:t>
            </a:r>
            <a:r>
              <a:rPr lang="en-US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y la base de </a:t>
            </a:r>
            <a:r>
              <a:rPr lang="en-US" sz="2400" b="1" dirty="0" err="1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datos</a:t>
            </a:r>
            <a:b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C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1F340E-F96E-4977-28FB-699BD3A5611B}"/>
              </a:ext>
            </a:extLst>
          </p:cNvPr>
          <p:cNvSpPr txBox="1"/>
          <p:nvPr/>
        </p:nvSpPr>
        <p:spPr>
          <a:xfrm>
            <a:off x="570858" y="3204843"/>
            <a:ext cx="812898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419" sz="1600" b="1" dirty="0">
                <a:solidFill>
                  <a:srgbClr val="03507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Qué lo hace diferente de lo usual</a:t>
            </a:r>
            <a:r>
              <a:rPr lang="es-419" sz="1600" dirty="0">
                <a:solidFill>
                  <a:srgbClr val="03507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no es una tabla consolidada sino una base estructurada, trazable y preparada con la capacidad de incorporar nuevos datos y seguir el flujo de modelado. </a:t>
            </a:r>
            <a:endParaRPr lang="es-CR" sz="1600" dirty="0">
              <a:solidFill>
                <a:srgbClr val="03507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400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F87A6-A0B2-711C-F1BD-6363C010A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CEF09A4-42DB-32A7-078F-D19766322ED6}"/>
              </a:ext>
            </a:extLst>
          </p:cNvPr>
          <p:cNvSpPr txBox="1"/>
          <p:nvPr/>
        </p:nvSpPr>
        <p:spPr>
          <a:xfrm>
            <a:off x="163286" y="125434"/>
            <a:ext cx="6912428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R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Resultados de homologación por clase</a:t>
            </a:r>
          </a:p>
          <a:p>
            <a:endParaRPr lang="es-CR" sz="2400" b="1" dirty="0">
              <a:solidFill>
                <a:srgbClr val="00125C"/>
              </a:solidFill>
              <a:latin typeface="Noto Sans"/>
            </a:endParaRPr>
          </a:p>
          <a:p>
            <a:pPr algn="ctr"/>
            <a:endParaRPr lang="es-E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6A9C1E0-06C8-E486-9659-52ECA8841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24333"/>
            <a:ext cx="9144000" cy="369703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7B7903-5056-68DE-9345-EBF7806D1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19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914972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5E38E-7A18-386D-C061-70F36A9B0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12DDA81-1446-36CD-8C5A-7E68A998F3BA}"/>
              </a:ext>
            </a:extLst>
          </p:cNvPr>
          <p:cNvSpPr txBox="1"/>
          <p:nvPr/>
        </p:nvSpPr>
        <p:spPr>
          <a:xfrm>
            <a:off x="163286" y="125434"/>
            <a:ext cx="6912428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R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Normalización de la base de datos</a:t>
            </a:r>
          </a:p>
          <a:p>
            <a:endParaRPr lang="es-CR" sz="2400" b="1" dirty="0">
              <a:solidFill>
                <a:srgbClr val="00125C"/>
              </a:solidFill>
              <a:latin typeface="Noto Sans"/>
            </a:endParaRPr>
          </a:p>
          <a:p>
            <a:pPr algn="ctr"/>
            <a:endParaRPr lang="es-ES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8B51708F-A919-1EAF-B103-B5B796975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014" y="2092904"/>
            <a:ext cx="6368144" cy="277152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E3AB4D4-BE84-7582-AB57-15382DC82433}"/>
              </a:ext>
            </a:extLst>
          </p:cNvPr>
          <p:cNvSpPr txBox="1"/>
          <p:nvPr/>
        </p:nvSpPr>
        <p:spPr>
          <a:xfrm>
            <a:off x="163286" y="781049"/>
            <a:ext cx="770708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2100"/>
              </a:lnSpc>
            </a:pPr>
            <a:r>
              <a:rPr lang="es-419" sz="1800" b="0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de datos normalizada</a:t>
            </a:r>
            <a:r>
              <a:rPr lang="es-419" sz="1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800" b="0" i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>
              <a:lnSpc>
                <a:spcPts val="2100"/>
              </a:lnSpc>
            </a:pPr>
            <a:endParaRPr lang="en-US" sz="18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lnSpc>
                <a:spcPts val="2100"/>
              </a:lnSpc>
            </a:pPr>
            <a:r>
              <a:rPr lang="en-US" sz="1800" b="0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labels de </a:t>
            </a:r>
            <a:r>
              <a:rPr lang="en-US" sz="1800" b="0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clase</a:t>
            </a:r>
            <a:r>
              <a:rPr lang="en-US" sz="1800" b="0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quedan</a:t>
            </a:r>
            <a:r>
              <a:rPr lang="en-US" sz="1800" b="0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separados</a:t>
            </a:r>
            <a:r>
              <a:rPr lang="en-US" sz="1800" b="0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las </a:t>
            </a:r>
            <a:r>
              <a:rPr lang="en-US" sz="1800" b="0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tablas</a:t>
            </a:r>
            <a:r>
              <a:rPr lang="en-US" sz="1800" b="0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puntos para </a:t>
            </a:r>
            <a:r>
              <a:rPr lang="en-US" sz="1800" b="0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mantener</a:t>
            </a:r>
            <a:r>
              <a:rPr lang="en-US" sz="1800" b="0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 </a:t>
            </a:r>
            <a:r>
              <a:rPr lang="en-US" sz="1800" b="0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modelo</a:t>
            </a:r>
            <a:r>
              <a:rPr lang="en-US" sz="1800" b="0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800" b="0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3NF</a:t>
            </a:r>
          </a:p>
          <a:p>
            <a:pPr algn="ctr"/>
            <a:endParaRPr lang="es-ES" dirty="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E22EEB01-FD12-BE74-55E5-6332C3D6B803}"/>
              </a:ext>
            </a:extLst>
          </p:cNvPr>
          <p:cNvSpPr/>
          <p:nvPr/>
        </p:nvSpPr>
        <p:spPr>
          <a:xfrm>
            <a:off x="288689" y="2572766"/>
            <a:ext cx="1734413" cy="2087626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050">
                <a:solidFill>
                  <a:srgbClr val="222222"/>
                </a:solidFill>
                <a:latin typeface="Arial"/>
              </a:defRPr>
            </a:pPr>
            <a:r>
              <a:rPr b="1" err="1">
                <a:solidFill>
                  <a:schemeClr val="bg1"/>
                </a:solidFill>
              </a:rPr>
              <a:t>Criterio</a:t>
            </a:r>
            <a:r>
              <a:rPr b="1">
                <a:solidFill>
                  <a:schemeClr val="bg1"/>
                </a:solidFill>
              </a:rPr>
              <a:t>: no se </a:t>
            </a:r>
            <a:r>
              <a:rPr b="1" err="1">
                <a:solidFill>
                  <a:schemeClr val="bg1"/>
                </a:solidFill>
              </a:rPr>
              <a:t>inventan</a:t>
            </a:r>
            <a:r>
              <a:rPr b="1">
                <a:solidFill>
                  <a:schemeClr val="bg1"/>
                </a:solidFill>
              </a:rPr>
              <a:t> </a:t>
            </a:r>
            <a:r>
              <a:rPr b="1" err="1">
                <a:solidFill>
                  <a:schemeClr val="bg1"/>
                </a:solidFill>
              </a:rPr>
              <a:t>atributos</a:t>
            </a:r>
            <a:r>
              <a:rPr b="1">
                <a:solidFill>
                  <a:schemeClr val="bg1"/>
                </a:solidFill>
              </a:rPr>
              <a:t> </a:t>
            </a:r>
            <a:r>
              <a:rPr b="1" err="1">
                <a:solidFill>
                  <a:schemeClr val="bg1"/>
                </a:solidFill>
              </a:rPr>
              <a:t>analíticos</a:t>
            </a:r>
            <a:r>
              <a:rPr b="1">
                <a:solidFill>
                  <a:schemeClr val="bg1"/>
                </a:solidFill>
              </a:rPr>
              <a:t>; </a:t>
            </a:r>
            <a:r>
              <a:rPr b="1" err="1">
                <a:solidFill>
                  <a:schemeClr val="bg1"/>
                </a:solidFill>
              </a:rPr>
              <a:t>los</a:t>
            </a:r>
            <a:r>
              <a:rPr b="1">
                <a:solidFill>
                  <a:schemeClr val="bg1"/>
                </a:solidFill>
              </a:rPr>
              <a:t> campos </a:t>
            </a:r>
            <a:r>
              <a:rPr b="1" err="1">
                <a:solidFill>
                  <a:schemeClr val="bg1"/>
                </a:solidFill>
              </a:rPr>
              <a:t>originales</a:t>
            </a:r>
            <a:r>
              <a:rPr b="1">
                <a:solidFill>
                  <a:schemeClr val="bg1"/>
                </a:solidFill>
              </a:rPr>
              <a:t> se </a:t>
            </a:r>
            <a:r>
              <a:rPr b="1" err="1">
                <a:solidFill>
                  <a:schemeClr val="bg1"/>
                </a:solidFill>
              </a:rPr>
              <a:t>redistribuyen</a:t>
            </a:r>
            <a:r>
              <a:rPr b="1">
                <a:solidFill>
                  <a:schemeClr val="bg1"/>
                </a:solidFill>
              </a:rPr>
              <a:t> </a:t>
            </a:r>
            <a:r>
              <a:rPr b="1" err="1">
                <a:solidFill>
                  <a:schemeClr val="bg1"/>
                </a:solidFill>
              </a:rPr>
              <a:t>por</a:t>
            </a:r>
            <a:r>
              <a:rPr b="1">
                <a:solidFill>
                  <a:schemeClr val="bg1"/>
                </a:solidFill>
              </a:rPr>
              <a:t> </a:t>
            </a:r>
            <a:r>
              <a:rPr b="1" err="1">
                <a:solidFill>
                  <a:schemeClr val="bg1"/>
                </a:solidFill>
              </a:rPr>
              <a:t>tema</a:t>
            </a:r>
            <a:r>
              <a:rPr b="1">
                <a:solidFill>
                  <a:schemeClr val="bg1"/>
                </a:solidFill>
              </a:rPr>
              <a:t> y </a:t>
            </a:r>
            <a:r>
              <a:rPr b="1" err="1">
                <a:solidFill>
                  <a:schemeClr val="bg1"/>
                </a:solidFill>
              </a:rPr>
              <a:t>los</a:t>
            </a:r>
            <a:r>
              <a:rPr b="1">
                <a:solidFill>
                  <a:schemeClr val="bg1"/>
                </a:solidFill>
              </a:rPr>
              <a:t> joins se </a:t>
            </a:r>
            <a:r>
              <a:rPr b="1" err="1">
                <a:solidFill>
                  <a:schemeClr val="bg1"/>
                </a:solidFill>
              </a:rPr>
              <a:t>hacen</a:t>
            </a:r>
            <a:r>
              <a:rPr b="1">
                <a:solidFill>
                  <a:schemeClr val="bg1"/>
                </a:solidFill>
              </a:rPr>
              <a:t> </a:t>
            </a:r>
            <a:r>
              <a:rPr b="1" err="1">
                <a:solidFill>
                  <a:schemeClr val="bg1"/>
                </a:solidFill>
              </a:rPr>
              <a:t>mediante</a:t>
            </a:r>
            <a:r>
              <a:rPr b="1">
                <a:solidFill>
                  <a:schemeClr val="bg1"/>
                </a:solidFill>
              </a:rPr>
              <a:t> </a:t>
            </a:r>
            <a:r>
              <a:rPr b="1" err="1">
                <a:solidFill>
                  <a:schemeClr val="bg1"/>
                </a:solidFill>
              </a:rPr>
              <a:t>xy_group_id</a:t>
            </a:r>
            <a: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5759C2-6399-AE93-A053-ECDB8B635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20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97750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27BA8-B750-490C-2CD0-61A55B50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21</a:t>
            </a:fld>
            <a:endParaRPr lang="es-CR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B27FFE1-4288-6DEB-1CC7-55351050EE24}"/>
              </a:ext>
            </a:extLst>
          </p:cNvPr>
          <p:cNvSpPr txBox="1"/>
          <p:nvPr/>
        </p:nvSpPr>
        <p:spPr>
          <a:xfrm>
            <a:off x="170962" y="102393"/>
            <a:ext cx="8344388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R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Protocolo para el llenado de vacíos de información</a:t>
            </a:r>
          </a:p>
          <a:p>
            <a:endParaRPr lang="es-CR" sz="2400" b="1" dirty="0">
              <a:solidFill>
                <a:srgbClr val="00125C"/>
              </a:solidFill>
              <a:latin typeface="Noto Sans"/>
            </a:endParaRPr>
          </a:p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5564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5A73E-5C82-FF9D-C8B7-A8FFFE683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4B8CC-F5E8-AEF7-5EC9-D05EDC1C5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22</a:t>
            </a:fld>
            <a:endParaRPr lang="es-CR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D15030B-A86B-1A69-6FFB-9D1EDA57F1FD}"/>
              </a:ext>
            </a:extLst>
          </p:cNvPr>
          <p:cNvSpPr txBox="1"/>
          <p:nvPr/>
        </p:nvSpPr>
        <p:spPr>
          <a:xfrm>
            <a:off x="163286" y="74063"/>
            <a:ext cx="8344388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R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Protocolo para el llenado de vacíos de información</a:t>
            </a:r>
          </a:p>
          <a:p>
            <a:endParaRPr lang="es-CR" sz="2400" b="1" dirty="0">
              <a:solidFill>
                <a:srgbClr val="00125C"/>
              </a:solidFill>
              <a:latin typeface="Noto Sans"/>
            </a:endParaRPr>
          </a:p>
          <a:p>
            <a:pPr algn="ctr"/>
            <a:endParaRPr lang="es-E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254CC0-E0CC-0D9B-A9BD-4EE5E9E67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304" y="1120503"/>
            <a:ext cx="7886700" cy="25206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R" sz="1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llenado de vacíos es la piedra angular para conseguir una base de datos apta para modelado. </a:t>
            </a:r>
          </a:p>
          <a:p>
            <a:r>
              <a:rPr lang="es-CR" sz="1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estrategia de llenado de vacíos sigue todos los procesos de auditoria de datos. </a:t>
            </a:r>
          </a:p>
          <a:p>
            <a:r>
              <a:rPr lang="es-CR" sz="18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participación activa de los distintos socios es clave para completar con esta etapa.</a:t>
            </a:r>
          </a:p>
          <a:p>
            <a:pPr marL="0" indent="0">
              <a:buNone/>
            </a:pPr>
            <a:endParaRPr lang="es-CR" sz="1600" dirty="0">
              <a:solidFill>
                <a:srgbClr val="0E2841"/>
              </a:solidFill>
              <a:latin typeface="Noto Sans"/>
              <a:ea typeface="Noto Sans"/>
              <a:cs typeface="Noto Sans"/>
            </a:endParaRPr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798092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79E1C-E33C-9502-EC73-1290EF671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E5AD03D-11E7-D39B-CE93-11C179BB32B7}"/>
              </a:ext>
            </a:extLst>
          </p:cNvPr>
          <p:cNvSpPr txBox="1">
            <a:spLocks/>
          </p:cNvSpPr>
          <p:nvPr/>
        </p:nvSpPr>
        <p:spPr>
          <a:xfrm>
            <a:off x="1058181" y="1662876"/>
            <a:ext cx="8520600" cy="99619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1500"/>
              </a:lnSpc>
            </a:pPr>
            <a:r>
              <a:rPr lang="es-CR" sz="2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Exploración: Modelado de áreas piloto </a:t>
            </a:r>
          </a:p>
          <a:p>
            <a:pPr>
              <a:buClrTx/>
              <a:buFontTx/>
            </a:pPr>
            <a:endParaRPr lang="es-ES" sz="2600" dirty="0">
              <a:solidFill>
                <a:schemeClr val="accent1">
                  <a:lumMod val="49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98C8B8-2723-3F13-5596-718BB3252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23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92080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45E1F-AB12-ACA0-BC0A-B63A8DA0C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50917-75B8-41D5-ED28-F411356F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24</a:t>
            </a:fld>
            <a:endParaRPr lang="es-C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0D33B-97AF-43B7-2499-B2D4EF446FB9}"/>
              </a:ext>
            </a:extLst>
          </p:cNvPr>
          <p:cNvSpPr txBox="1"/>
          <p:nvPr/>
        </p:nvSpPr>
        <p:spPr>
          <a:xfrm>
            <a:off x="298714" y="3059981"/>
            <a:ext cx="397628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¿Por </a:t>
            </a:r>
            <a:r>
              <a:rPr lang="en-US" sz="1600" b="1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lang="en-US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 </a:t>
            </a:r>
            <a:r>
              <a:rPr lang="en-US" sz="1600" b="1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importante</a:t>
            </a:r>
            <a:r>
              <a:rPr lang="en-US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hacerlo</a:t>
            </a:r>
            <a:r>
              <a:rPr lang="en-US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bien?</a:t>
            </a:r>
          </a:p>
          <a:p>
            <a:endParaRPr lang="en-US" b="1" dirty="0">
              <a:solidFill>
                <a:srgbClr val="0E284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0BCDF93-7CBD-3F48-A029-439AA225DC32}"/>
              </a:ext>
            </a:extLst>
          </p:cNvPr>
          <p:cNvSpPr txBox="1"/>
          <p:nvPr/>
        </p:nvSpPr>
        <p:spPr>
          <a:xfrm>
            <a:off x="410966" y="118795"/>
            <a:ext cx="707632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R" sz="2400" b="1" dirty="0">
                <a:solidFill>
                  <a:srgbClr val="0E28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Exploración:</a:t>
            </a:r>
            <a:r>
              <a:rPr lang="es-CR" sz="2400" b="1" i="0" u="none" strike="noStrike" baseline="0" dirty="0">
                <a:solidFill>
                  <a:srgbClr val="0E28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R" sz="2400" b="1" dirty="0">
                <a:solidFill>
                  <a:srgbClr val="0E284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Modelado de áreas piloto </a:t>
            </a:r>
          </a:p>
          <a:p>
            <a:pPr algn="ctr"/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D0C20E5-EE9E-3C9D-2FFC-36716B3E0B25}"/>
              </a:ext>
            </a:extLst>
          </p:cNvPr>
          <p:cNvSpPr txBox="1"/>
          <p:nvPr/>
        </p:nvSpPr>
        <p:spPr>
          <a:xfrm>
            <a:off x="410966" y="876514"/>
            <a:ext cx="45720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</a:t>
            </a:r>
            <a:r>
              <a:rPr lang="en-US" sz="1600" b="1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lang="en-US" sz="1600" b="1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es </a:t>
            </a:r>
            <a:r>
              <a:rPr lang="en-US" sz="1600" b="1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modelar</a:t>
            </a:r>
            <a:r>
              <a:rPr lang="en-US" sz="1600" b="1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 </a:t>
            </a:r>
            <a:endParaRPr lang="es-ES" sz="16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EED287E-C395-6F92-9396-4298050CFE5C}"/>
              </a:ext>
            </a:extLst>
          </p:cNvPr>
          <p:cNvSpPr txBox="1"/>
          <p:nvPr/>
        </p:nvSpPr>
        <p:spPr>
          <a:xfrm>
            <a:off x="410966" y="1980985"/>
            <a:ext cx="45720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</a:t>
            </a:r>
            <a:r>
              <a:rPr lang="en-US" sz="1600" b="1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Qué</a:t>
            </a:r>
            <a:r>
              <a:rPr lang="en-US" sz="1600" b="1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600" b="1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implica</a:t>
            </a:r>
            <a:r>
              <a:rPr lang="en-US" sz="1600" b="1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 </a:t>
            </a:r>
            <a:endParaRPr lang="es-ES" sz="16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09F170D-BF59-9E39-EB6C-B9A05CE2D199}"/>
              </a:ext>
            </a:extLst>
          </p:cNvPr>
          <p:cNvSpPr txBox="1"/>
          <p:nvPr/>
        </p:nvSpPr>
        <p:spPr>
          <a:xfrm>
            <a:off x="353174" y="1242167"/>
            <a:ext cx="520771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Aprender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territorio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conocido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estimar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ocurre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donde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tenemos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observaciones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F4E15B0-9177-B395-5ED3-B67EB90A9B2A}"/>
              </a:ext>
            </a:extLst>
          </p:cNvPr>
          <p:cNvSpPr txBox="1"/>
          <p:nvPr/>
        </p:nvSpPr>
        <p:spPr>
          <a:xfrm>
            <a:off x="410966" y="2321317"/>
            <a:ext cx="5027915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Seleccionar</a:t>
            </a:r>
            <a:r>
              <a:rPr lang="en-US" sz="1400" b="0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buenos </a:t>
            </a:r>
            <a:r>
              <a:rPr lang="en-US" sz="1400" b="0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ejemplos</a:t>
            </a:r>
            <a:r>
              <a:rPr lang="en-US" sz="1400" b="0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sz="1400" b="0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integrar</a:t>
            </a:r>
            <a:r>
              <a:rPr lang="en-US" sz="1400" b="0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variables → </a:t>
            </a:r>
            <a:r>
              <a:rPr lang="en-US" sz="1400" b="0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entrenar</a:t>
            </a:r>
            <a:r>
              <a:rPr lang="en-US" sz="1400" b="0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0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algoritmos</a:t>
            </a:r>
            <a:r>
              <a:rPr lang="en-US" sz="1400" b="0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sz="1400" b="0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evaluar</a:t>
            </a:r>
            <a:r>
              <a:rPr lang="en-US" sz="1400" b="0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0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resultados</a:t>
            </a:r>
            <a:r>
              <a:rPr lang="en-US" sz="1400" b="0" i="0" u="none" strike="noStrike" baseline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sz="1400" b="0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generar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400" b="0" i="0" u="none" strike="noStrike" baseline="0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mapa</a:t>
            </a:r>
            <a:r>
              <a:rPr sz="1400" b="0" i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​</a:t>
            </a:r>
            <a:r>
              <a:rPr lang="es-E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</a:p>
          <a:p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1863915-BE09-7E52-04A7-3A4F5C7784DF}"/>
              </a:ext>
            </a:extLst>
          </p:cNvPr>
          <p:cNvSpPr txBox="1"/>
          <p:nvPr/>
        </p:nvSpPr>
        <p:spPr>
          <a:xfrm>
            <a:off x="353174" y="3496424"/>
            <a:ext cx="5175606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Porque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modelo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puede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parecer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muy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bueno sin ser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realmente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confiable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Cuando no se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aplican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buenas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prácticas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las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métricas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pueden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inflarse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la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incertidumbre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ocultarse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el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modelo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comunicar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certeza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mayor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realmente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existe</a:t>
            </a:r>
            <a:r>
              <a:rPr lang="en-US" dirty="0"/>
              <a:t>.</a:t>
            </a:r>
            <a:endParaRPr lang="es-ES" dirty="0"/>
          </a:p>
          <a:p>
            <a:pPr algn="ctr"/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EFE5017-C2A5-BCC8-E6CB-2140A8D9D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634" y="1293902"/>
            <a:ext cx="4478891" cy="298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871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0D0D8-2F68-4D1C-7F09-4B2E600C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7B996-0BC4-CA89-5E45-3ADFD1D6C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93" y="0"/>
            <a:ext cx="7886700" cy="994172"/>
          </a:xfrm>
        </p:spPr>
        <p:txBody>
          <a:bodyPr>
            <a:normAutofit/>
          </a:bodyPr>
          <a:lstStyle/>
          <a:p>
            <a:r>
              <a:rPr lang="es-419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Flujo aplicado y algoritmos usados</a:t>
            </a:r>
            <a:br>
              <a:rPr lang="es-419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419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ABB75-5573-1A87-566C-047394ED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25</a:t>
            </a:fld>
            <a:endParaRPr lang="es-C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49F3B8-C636-77E5-4536-B9EAC73AF9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31"/>
          <a:stretch>
            <a:fillRect/>
          </a:stretch>
        </p:blipFill>
        <p:spPr>
          <a:xfrm>
            <a:off x="1035707" y="608967"/>
            <a:ext cx="7072586" cy="415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4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98347-E56F-740A-E3F1-5E1FAC9A4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A54D7-E89B-60E7-0D3D-2659FD0DF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26</a:t>
            </a:fld>
            <a:endParaRPr lang="es-C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C7FF81-8375-BB1A-F9D5-90AAEE995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812" y="475327"/>
            <a:ext cx="5611262" cy="39659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766833-F05D-4671-9B87-E8CC8720A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821" y="737613"/>
            <a:ext cx="2674782" cy="2757342"/>
          </a:xfrm>
        </p:spPr>
        <p:txBody>
          <a:bodyPr>
            <a:normAutofit/>
          </a:bodyPr>
          <a:lstStyle/>
          <a:p>
            <a:r>
              <a:rPr lang="es-419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Distribución y manejo de zonas piloto en cuadrantes</a:t>
            </a:r>
            <a:br>
              <a:rPr lang="es-419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419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E383A9-49C5-673F-D352-E23CF36A9977}"/>
              </a:ext>
            </a:extLst>
          </p:cNvPr>
          <p:cNvSpPr txBox="1"/>
          <p:nvPr/>
        </p:nvSpPr>
        <p:spPr>
          <a:xfrm>
            <a:off x="92835" y="4381052"/>
            <a:ext cx="2857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700">
                <a:solidFill>
                  <a:srgbClr val="00125C"/>
                </a:solidFill>
              </a:rPr>
              <a:t>El uso y selección del área de los cuadrantes se basó en un proceso riguroso basado en: </a:t>
            </a:r>
            <a:r>
              <a:rPr lang="en-US" sz="700">
                <a:solidFill>
                  <a:srgbClr val="00125C"/>
                </a:solidFill>
              </a:rPr>
              <a:t>Stock, A. (2025). </a:t>
            </a:r>
            <a:endParaRPr lang="es-CR" sz="700">
              <a:solidFill>
                <a:srgbClr val="0012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9398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BABCB-8A82-C42A-1CD2-4F7BBB05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A56EC-619B-E868-326D-014889296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91"/>
            <a:ext cx="7886700" cy="994172"/>
          </a:xfrm>
        </p:spPr>
        <p:txBody>
          <a:bodyPr anchor="ctr">
            <a:normAutofit/>
          </a:bodyPr>
          <a:lstStyle/>
          <a:p>
            <a:r>
              <a:rPr lang="es-419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Métricas de comparación de modelado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B30EA49-2313-C4D9-25D3-B8DD07CCEC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915" y="1057492"/>
            <a:ext cx="3886200" cy="326350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CR" sz="1400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Cosas a considerar en un proceso de modelado:</a:t>
            </a:r>
          </a:p>
          <a:p>
            <a:pPr marL="0" indent="0">
              <a:buNone/>
            </a:pPr>
            <a:endParaRPr lang="es-CR" sz="1400" dirty="0">
              <a:solidFill>
                <a:srgbClr val="00125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s-CR" sz="1400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Se prueban diferentes algoritmos porque no todos aprenden igual (predicen), no responden igual a diferencias en balance de clases, la complejidad de las relaciones entre </a:t>
            </a:r>
            <a:r>
              <a:rPr lang="es-CR" sz="1400" dirty="0" err="1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co-variables</a:t>
            </a:r>
            <a:r>
              <a:rPr lang="es-CR" sz="1400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manejo de la </a:t>
            </a:r>
            <a:r>
              <a:rPr lang="es-CR" sz="1400" b="1" dirty="0" err="1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auto-correlación</a:t>
            </a:r>
            <a:r>
              <a:rPr lang="es-CR" sz="1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espacial. </a:t>
            </a:r>
          </a:p>
          <a:p>
            <a:pPr marL="0" indent="0">
              <a:buNone/>
            </a:pPr>
            <a:endParaRPr lang="es-CR" sz="1400" b="1" dirty="0">
              <a:solidFill>
                <a:srgbClr val="00125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s-CR" sz="1400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Los comparamos porque un modelo puede sobresalir en una métrica o clase y presentar limitaciones en otra. En estos resultados, ningún algoritmo domina simultáneamente todos los criterios.</a:t>
            </a:r>
          </a:p>
          <a:p>
            <a:endParaRPr lang="es-CR" sz="1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1C7C2-282F-BA80-4408-E9940B58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630FF26-A9ED-B74F-80D1-0846E645FC60}" type="slidenum">
              <a:rPr lang="es-CR" smtClean="0"/>
              <a:pPr>
                <a:spcAft>
                  <a:spcPts val="600"/>
                </a:spcAft>
              </a:pPr>
              <a:t>27</a:t>
            </a:fld>
            <a:endParaRPr lang="es-C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183F72-6FA9-934E-3B21-BD9AC95B3E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0" b="7407"/>
          <a:stretch>
            <a:fillRect/>
          </a:stretch>
        </p:blipFill>
        <p:spPr>
          <a:xfrm>
            <a:off x="3810315" y="1554479"/>
            <a:ext cx="5333685" cy="281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080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8A2FB-5646-E556-513D-42B98E15C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7CDB4-9DD8-0050-FFD8-FB9B32408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28</a:t>
            </a:fld>
            <a:endParaRPr lang="es-CR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884D71A-A9C9-A40E-F558-A1841201B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468" y="577920"/>
            <a:ext cx="3987658" cy="398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677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370A7-B4C2-D620-D330-D44F0A8DB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B6F8443-FD92-CFD0-4208-1A3D16044635}"/>
              </a:ext>
            </a:extLst>
          </p:cNvPr>
          <p:cNvSpPr txBox="1">
            <a:spLocks/>
          </p:cNvSpPr>
          <p:nvPr/>
        </p:nvSpPr>
        <p:spPr>
          <a:xfrm>
            <a:off x="2355313" y="1738745"/>
            <a:ext cx="4102637" cy="511613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1500"/>
              </a:lnSpc>
            </a:pPr>
            <a:r>
              <a:rPr lang="es-CR" sz="2400" b="1" dirty="0">
                <a:solidFill>
                  <a:schemeClr val="accent1">
                    <a:lumMod val="49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Conclusiones y </a:t>
            </a:r>
            <a:r>
              <a:rPr lang="es-CR" sz="2400" b="1" dirty="0" err="1">
                <a:solidFill>
                  <a:schemeClr val="accent1">
                    <a:lumMod val="49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desafios</a:t>
            </a:r>
            <a:endParaRPr lang="es-CR" sz="2400" b="1" dirty="0">
              <a:solidFill>
                <a:schemeClr val="accent1">
                  <a:lumMod val="49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BF154F-610A-85F7-006D-352C115C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29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536374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0C99A-03B0-F643-8694-ADAE070F8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C0738CF-8B0D-9060-AFE9-2EB79D7C8228}"/>
              </a:ext>
            </a:extLst>
          </p:cNvPr>
          <p:cNvSpPr txBox="1"/>
          <p:nvPr/>
        </p:nvSpPr>
        <p:spPr>
          <a:xfrm>
            <a:off x="184681" y="102393"/>
            <a:ext cx="6912428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R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Desafíos observados</a:t>
            </a:r>
          </a:p>
          <a:p>
            <a:pPr algn="ctr"/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3A643CD-80E8-C5A3-7833-10F0193C7F41}"/>
              </a:ext>
            </a:extLst>
          </p:cNvPr>
          <p:cNvSpPr txBox="1"/>
          <p:nvPr/>
        </p:nvSpPr>
        <p:spPr>
          <a:xfrm>
            <a:off x="407336" y="526613"/>
            <a:ext cx="7632056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s-MX" sz="16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R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Clases poco representadas:</a:t>
            </a:r>
            <a:r>
              <a:rPr lang="es-CR" sz="1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plantaciones, otras tierras y coníferas requieren más observaciones y mayor cobertura geográfica. El protocolo de la Actividad 3 permite orientar el llenado de estos vacíos.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CR" sz="16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R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Predictores heterogéneos:</a:t>
            </a:r>
            <a:r>
              <a:rPr lang="es-CR" sz="1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aunque superaron los controles generales, algunos presentan limitaciones específicas; por ejemplo, máscaras de agua en Sentinel-1 que generaron confusión.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CR" sz="16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R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Restricciones operativas:</a:t>
            </a:r>
            <a:r>
              <a:rPr lang="es-CR" sz="1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escala regional demanda gran capacidad de descarga, almacenamiento y procesamiento, evidenciando la necesidad de infraestructura de alto rendimiento.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CR" sz="16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R" sz="16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Alcance piloto:</a:t>
            </a:r>
            <a:r>
              <a:rPr lang="es-CR" sz="1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las cinco zonas no representan toda la diversidad regional. La revisión cartográfica fue cualitativa; una aplicación regional requerirá más datos y una validación cartográfica independiente.</a:t>
            </a:r>
          </a:p>
          <a:p>
            <a:endParaRPr lang="es-MX" sz="1600" dirty="0">
              <a:solidFill>
                <a:schemeClr val="tx2"/>
              </a:solidFill>
              <a:latin typeface="Noto Sans"/>
              <a:ea typeface="Noto Sans"/>
              <a:cs typeface="Noto Sans"/>
            </a:endParaRPr>
          </a:p>
          <a:p>
            <a:pPr algn="ctr"/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219F5D-3774-15F8-A89C-DDCCD16C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30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925308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ACACB-906C-03E1-2C9C-AB4A968CC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B3E4536-621C-BB11-D03C-4871D6A9780F}"/>
              </a:ext>
            </a:extLst>
          </p:cNvPr>
          <p:cNvSpPr txBox="1"/>
          <p:nvPr/>
        </p:nvSpPr>
        <p:spPr>
          <a:xfrm>
            <a:off x="177754" y="233947"/>
            <a:ext cx="6912428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R" sz="2400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Conclusiones</a:t>
            </a:r>
          </a:p>
          <a:p>
            <a:endParaRPr lang="es-CR" sz="2400" b="1" dirty="0">
              <a:solidFill>
                <a:srgbClr val="00125C"/>
              </a:solidFill>
              <a:latin typeface="Noto Sans"/>
            </a:endParaRPr>
          </a:p>
          <a:p>
            <a:pPr algn="ctr"/>
            <a:endParaRPr lang="es-E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54A1FD-D77A-205E-D207-5E7C5F312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31</a:t>
            </a:fld>
            <a:endParaRPr lang="es-C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215438-64CC-9A2C-74A5-65E6EA5756E7}"/>
              </a:ext>
            </a:extLst>
          </p:cNvPr>
          <p:cNvSpPr txBox="1"/>
          <p:nvPr/>
        </p:nvSpPr>
        <p:spPr>
          <a:xfrm>
            <a:off x="412125" y="802035"/>
            <a:ext cx="82167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s-CR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desarrolló un pipeline reproducible y trazable que generó una base de calidad apta para el modelado geoespacial</a:t>
            </a:r>
          </a:p>
          <a:p>
            <a:pPr marL="342900" lvl="0" indent="-342900"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es-CR" dirty="0">
              <a:solidFill>
                <a:srgbClr val="00125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s-CR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estableció un protocolo replicable para tratar vacíos e incorporar nuevas fuentes bajo criterios comunes y verificables</a:t>
            </a:r>
          </a:p>
          <a:p>
            <a:pPr marL="342900" lvl="0" indent="-342900"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es-CR" dirty="0">
              <a:solidFill>
                <a:srgbClr val="00125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s-CR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separación espacial por cuadrantes permitió comparar los modelos en condiciones equivalentes</a:t>
            </a:r>
          </a:p>
          <a:p>
            <a:pPr marL="342900" lvl="0" indent="-342900"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es-CR" dirty="0">
              <a:solidFill>
                <a:srgbClr val="00125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s-CR" b="1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</a:t>
            </a:r>
            <a:r>
              <a:rPr lang="es-CR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presentó la mayor coherencia cartográfica en las cinco zonas piloto, aunque los demás modelos fueron competitivos en distintas métricas</a:t>
            </a:r>
          </a:p>
          <a:p>
            <a:pPr marL="342900" lvl="0" indent="-342900"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es-CR" dirty="0">
              <a:solidFill>
                <a:srgbClr val="00125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s-CR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aplicación regional requerirá fortalecer las clases poco representadas, mejorar los predictores y realizar una validación cartográfica independiente</a:t>
            </a:r>
          </a:p>
          <a:p>
            <a:pPr marL="342900" lvl="0" indent="-342900"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es-CR" dirty="0">
              <a:solidFill>
                <a:srgbClr val="00125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s-CR" dirty="0">
                <a:solidFill>
                  <a:srgbClr val="00125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validación del modelo evaluó su transferencia a cuadrantes no utilizados en el entrenamiento, pero no representa una estimación definitiva de la exactitud cartográfica regional</a:t>
            </a:r>
          </a:p>
        </p:txBody>
      </p:sp>
    </p:spTree>
    <p:extLst>
      <p:ext uri="{BB962C8B-B14F-4D97-AF65-F5344CB8AC3E}">
        <p14:creationId xmlns:p14="http://schemas.microsoft.com/office/powerpoint/2010/main" val="18787946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AB1A6-DCD5-F92A-294F-2934CF611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2C4FC2A-45AE-8B06-0A7D-C3D2E2D8A1DE}"/>
              </a:ext>
            </a:extLst>
          </p:cNvPr>
          <p:cNvSpPr txBox="1">
            <a:spLocks/>
          </p:cNvSpPr>
          <p:nvPr/>
        </p:nvSpPr>
        <p:spPr>
          <a:xfrm>
            <a:off x="1078962" y="2045033"/>
            <a:ext cx="8520600" cy="76099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1500"/>
              </a:lnSpc>
            </a:pPr>
            <a:r>
              <a:rPr lang="es-CR" sz="2400" b="1" dirty="0">
                <a:solidFill>
                  <a:schemeClr val="accent1">
                    <a:lumMod val="49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Acceso a los resultados y datos generados</a:t>
            </a:r>
            <a:endParaRPr lang="es-CR" sz="2400" b="1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  <a:buFontTx/>
            </a:pPr>
            <a:endParaRPr lang="es-ES" sz="2600" dirty="0">
              <a:solidFill>
                <a:schemeClr val="accent1">
                  <a:lumMod val="49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B5ABBC-497B-0B18-4F4D-6C62AE44B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32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062656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A02F4-AD2C-92F1-85FC-33C25F2F0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0BCA54E-ADC5-D1A4-400A-A120B803E5A7}"/>
              </a:ext>
            </a:extLst>
          </p:cNvPr>
          <p:cNvSpPr txBox="1"/>
          <p:nvPr/>
        </p:nvSpPr>
        <p:spPr>
          <a:xfrm>
            <a:off x="163286" y="125434"/>
            <a:ext cx="6912428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R" sz="2400" b="1">
                <a:solidFill>
                  <a:srgbClr val="00125C"/>
                </a:solidFill>
                <a:latin typeface="Noto Sans"/>
              </a:rPr>
              <a:t>Disponibilidad de los datos y procesos</a:t>
            </a:r>
          </a:p>
          <a:p>
            <a:endParaRPr lang="es-CR" sz="2400" b="1">
              <a:solidFill>
                <a:srgbClr val="00125C"/>
              </a:solidFill>
              <a:latin typeface="Noto Sans"/>
            </a:endParaRPr>
          </a:p>
          <a:p>
            <a:endParaRPr lang="es-CR" sz="2400" b="1">
              <a:solidFill>
                <a:srgbClr val="00125C"/>
              </a:solidFill>
              <a:latin typeface="Noto Sans"/>
            </a:endParaRPr>
          </a:p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324C686-8E3E-7424-C79B-298141CDE2CB}"/>
              </a:ext>
            </a:extLst>
          </p:cNvPr>
          <p:cNvSpPr txBox="1"/>
          <p:nvPr/>
        </p:nvSpPr>
        <p:spPr>
          <a:xfrm>
            <a:off x="5787344" y="915124"/>
            <a:ext cx="3081759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rtl="0">
              <a:buFont typeface="Arial"/>
              <a:buChar char="•"/>
            </a:pPr>
            <a:r>
              <a:rPr lang="en-US" sz="1500" b="0" i="0" u="none" strike="noStrike" baseline="0" err="1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Repositorio</a:t>
            </a:r>
            <a:r>
              <a:rPr lang="en-US" sz="1500" b="0" i="0" u="none" strike="noStrike" baseline="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 de GitHub</a:t>
            </a:r>
            <a:r>
              <a:rPr lang="en-US" sz="1500" b="0" i="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​</a:t>
            </a:r>
            <a:r>
              <a:rPr lang="en-US" sz="150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.</a:t>
            </a:r>
            <a:endParaRPr lang="es-ES"/>
          </a:p>
          <a:p>
            <a:pPr marL="342900" indent="-342900">
              <a:buFont typeface="Arial"/>
              <a:buChar char="•"/>
            </a:pPr>
            <a:endParaRPr lang="en-US" sz="1500">
              <a:solidFill>
                <a:schemeClr val="tx2"/>
              </a:solidFill>
              <a:latin typeface="Noto Sans"/>
              <a:ea typeface="Noto Sans"/>
              <a:cs typeface="Noto Sans"/>
            </a:endParaRPr>
          </a:p>
          <a:p>
            <a:pPr marL="342900" indent="-342900">
              <a:buFont typeface="Arial"/>
              <a:buChar char="•"/>
            </a:pPr>
            <a:r>
              <a:rPr lang="en-US" sz="1500" b="0" i="0" u="none" strike="noStrike" baseline="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Organización </a:t>
            </a:r>
            <a:r>
              <a:rPr lang="en-US" sz="1500" b="0" i="0" u="none" strike="noStrike" baseline="0" err="1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pensada</a:t>
            </a:r>
            <a:r>
              <a:rPr lang="en-US" sz="1500" b="0" i="0" u="none" strike="noStrike" baseline="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 </a:t>
            </a:r>
            <a:r>
              <a:rPr lang="en-US" sz="1500" err="1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en</a:t>
            </a:r>
            <a:r>
              <a:rPr lang="en-US" sz="150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 la</a:t>
            </a:r>
            <a:r>
              <a:rPr lang="en-US" sz="1500" b="0" i="0" u="none" strike="noStrike" baseline="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 </a:t>
            </a:r>
            <a:r>
              <a:rPr lang="en-US" sz="1500" b="0" i="0" u="none" strike="noStrike" baseline="0" err="1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normalización</a:t>
            </a:r>
            <a:r>
              <a:rPr lang="en-US" sz="1500" b="0" i="0" u="none" strike="noStrike" baseline="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 </a:t>
            </a:r>
            <a:r>
              <a:rPr lang="en-US" sz="150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y </a:t>
            </a:r>
            <a:r>
              <a:rPr lang="en-US" sz="1500" err="1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posibilidad</a:t>
            </a:r>
            <a:r>
              <a:rPr lang="en-US" sz="1500" b="0" i="0" u="none" strike="noStrike" baseline="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 de </a:t>
            </a:r>
            <a:r>
              <a:rPr lang="en-US" sz="1500" err="1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ejecución</a:t>
            </a:r>
            <a:r>
              <a:rPr lang="en-US" sz="150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500" err="1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por</a:t>
            </a:r>
            <a:r>
              <a:rPr lang="en-US" sz="1500" b="0" i="0" u="none" strike="noStrike" baseline="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 </a:t>
            </a:r>
            <a:r>
              <a:rPr lang="en-US" sz="1500" b="0" i="0" u="none" strike="noStrike" baseline="0" err="1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terceros</a:t>
            </a:r>
            <a:r>
              <a:rPr lang="en-US" sz="1500" b="0" i="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​</a:t>
            </a:r>
            <a:r>
              <a:rPr lang="en-US" sz="150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.</a:t>
            </a:r>
          </a:p>
          <a:p>
            <a:endParaRPr lang="en-US" sz="1500" b="0" i="0">
              <a:solidFill>
                <a:schemeClr val="tx2"/>
              </a:solidFill>
              <a:latin typeface="Noto Sans"/>
              <a:ea typeface="Noto Sans"/>
              <a:cs typeface="Noto Sans"/>
            </a:endParaRPr>
          </a:p>
          <a:p>
            <a:pPr marL="342900" indent="-342900">
              <a:buFont typeface="Arial"/>
              <a:buChar char="•"/>
            </a:pPr>
            <a:r>
              <a:rPr lang="en-US" sz="1500" b="0" i="0" u="none" strike="noStrike" baseline="0" err="1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Versionado</a:t>
            </a:r>
            <a:r>
              <a:rPr lang="en-US" sz="1500" b="0" i="0" u="none" strike="noStrike" baseline="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 y </a:t>
            </a:r>
            <a:r>
              <a:rPr lang="en-US" sz="1500" b="0" i="0" u="none" strike="noStrike" baseline="0" err="1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trazado</a:t>
            </a:r>
            <a:r>
              <a:rPr lang="en-US" sz="1500" b="0" i="0" u="none" strike="noStrike" baseline="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 </a:t>
            </a:r>
            <a:r>
              <a:rPr lang="en-US" sz="1500" err="1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por</a:t>
            </a:r>
            <a:r>
              <a:rPr lang="en-US" sz="150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500" err="1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procesamiento</a:t>
            </a:r>
            <a:r>
              <a:rPr lang="en-US" sz="150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.</a:t>
            </a:r>
          </a:p>
          <a:p>
            <a:pPr lvl="0"/>
            <a:r>
              <a:rPr lang="en-US" sz="1500" b="0" i="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​</a:t>
            </a:r>
            <a:endParaRPr lang="en-US">
              <a:solidFill>
                <a:schemeClr val="tx2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1500" b="0" i="0" u="none" strike="noStrike" baseline="0" err="1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Documentación</a:t>
            </a:r>
            <a:r>
              <a:rPr lang="en-US" sz="1500" b="0" i="0" u="none" strike="noStrike" baseline="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 de </a:t>
            </a:r>
            <a:r>
              <a:rPr lang="en-US" sz="1500" err="1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cada</a:t>
            </a:r>
            <a:r>
              <a:rPr lang="en-US" sz="150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500" err="1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actividad</a:t>
            </a:r>
            <a:r>
              <a:rPr lang="en-US" sz="1500" b="0" i="0" u="none" strike="noStrike" baseline="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 y </a:t>
            </a:r>
            <a:r>
              <a:rPr lang="en-US" sz="1500" b="0" i="0" u="none" strike="noStrike" baseline="0" err="1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resultado</a:t>
            </a:r>
            <a:r>
              <a:rPr lang="en-US" sz="1500" b="0" i="0" u="none" strike="noStrike" baseline="0">
                <a:solidFill>
                  <a:schemeClr val="tx2"/>
                </a:solidFill>
                <a:latin typeface="Noto Sans"/>
                <a:ea typeface="Noto Sans"/>
                <a:cs typeface="Noto Sans"/>
              </a:rPr>
              <a:t>.</a:t>
            </a:r>
          </a:p>
          <a:p>
            <a:pPr algn="ctr"/>
            <a:endParaRPr lang="es-E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F5B77A-4432-B241-4C82-8C9778B7F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33</a:t>
            </a:fld>
            <a:endParaRPr lang="es-C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A77969-28B4-9942-271E-1E2A8C4F3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37" y="779171"/>
            <a:ext cx="4768153" cy="316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03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3DC1B-3E2E-59C9-C9A9-D5D2BCC72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B93EA378-943F-39CC-5009-046085558ADC}"/>
              </a:ext>
            </a:extLst>
          </p:cNvPr>
          <p:cNvSpPr txBox="1"/>
          <p:nvPr/>
        </p:nvSpPr>
        <p:spPr>
          <a:xfrm>
            <a:off x="2351241" y="2048530"/>
            <a:ext cx="4012028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419" sz="2800" b="1" dirty="0">
                <a:solidFill>
                  <a:schemeClr val="accent1">
                    <a:lumMod val="49000"/>
                  </a:schemeClr>
                </a:solidFill>
                <a:latin typeface="Noto Sans"/>
                <a:ea typeface="Noto Sans"/>
                <a:cs typeface="Noto Sans"/>
              </a:rPr>
              <a:t>Muchas gracias</a:t>
            </a:r>
            <a:endParaRPr lang="es-ES" sz="2800" b="1" dirty="0">
              <a:solidFill>
                <a:schemeClr val="accent1">
                  <a:lumMod val="49000"/>
                </a:schemeClr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1A4129-E660-50DE-FADE-B6928A41A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FF26-A9ED-B74F-80D1-0846E645FC60}" type="slidenum">
              <a:rPr lang="es-CR" smtClean="0"/>
              <a:t>34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012051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1637</Words>
  <Application>Microsoft Office PowerPoint</Application>
  <PresentationFormat>On-screen Show (16:9)</PresentationFormat>
  <Paragraphs>215</Paragraphs>
  <Slides>34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Noto Sans</vt:lpstr>
      <vt:lpstr>Noto Sans SemiBold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Qué implica la normalización y la base de datos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Flujo aplicado y algoritmos usados </vt:lpstr>
      <vt:lpstr>Distribución y manejo de zonas piloto en cuadrantes </vt:lpstr>
      <vt:lpstr>Métricas de comparación de modelado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Jesús Céspedes Rivera</dc:creator>
  <cp:lastModifiedBy>CRISTIAN AGUILAR BARBOZA</cp:lastModifiedBy>
  <cp:revision>19</cp:revision>
  <dcterms:modified xsi:type="dcterms:W3CDTF">2026-07-31T05:56:45Z</dcterms:modified>
</cp:coreProperties>
</file>